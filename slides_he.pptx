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3D5A80"/>
          </a:solidFill>
          <a:ln/>
        </p:spPr>
      </p:sp>
      <p:sp>
        <p:nvSpPr>
          <p:cNvPr id="3" name="Text 1"/>
          <p:cNvSpPr/>
          <p:nvPr>
            <p:ph idx="101" type="title" hasCustomPrompt="1"/>
          </p:nvPr>
        </p:nvSpPr>
        <p:spPr>
          <a:xfrm>
            <a:off x="457200" y="256032"/>
            <a:ext cx="8229600" cy="548640"/>
          </a:xfrm>
          <a:prstGeom prst="rect">
            <a:avLst/>
          </a:prstGeom>
          <a:noFill/>
          <a:ln/>
        </p:spPr>
        <p:txBody>
          <a:bodyPr wrap="square" rtlCol="0"/>
          <a:lstStyle>
            <a:lvl1pPr rtl="1" algn="r" indent="0" marL="0">
              <a:buNone/>
              <a:defRPr lang="he-IL" altLang="en-US" sz="2000" b="1" dirty="0">
                <a:solidFill>
                  <a:srgbClr val="1B2A41"/>
                </a:solidFill>
                <a:latin typeface="Calibri" pitchFamily="34" charset="0"/>
                <a:ea typeface="Calibri" pitchFamily="34" charset="-122"/>
                <a:cs typeface="Calibri" pitchFamily="34" charset="-120"/>
              </a:defRPr>
            </a:lvl1pPr>
          </a:lstStyle>
          <a:p>
            <a:pPr algn="r" indent="0" marL="0">
              <a:buNone/>
            </a:pPr>
            <a:endParaRPr lang="he-IL" sz="2000" dirty="0"/>
          </a:p>
        </p:txBody>
      </p:sp>
      <p:sp>
        <p:nvSpPr>
          <p:cNvPr id="25" name="Slide Number Placeholder 0"/>
          <p:cNvSpPr>
            <a:spLocks noGrp="1"/>
          </p:cNvSpPr>
          <p:nvPr>
            <p:ph type="sldNum" sz="quarter" idx="4294967295"/>
          </p:nvPr>
        </p:nvSpPr>
        <p:spPr>
          <a:xfrm>
            <a:off x="27432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548640"/>
          </a:xfrm>
          <a:prstGeom prst="rect">
            <a:avLst/>
          </a:prstGeom>
          <a:noFill/>
          <a:ln/>
        </p:spPr>
        <p:txBody>
          <a:bodyPr wrap="square" lIns="0" tIns="0" rIns="0" bIns="0" rtlCol="0" anchor="t"/>
          <a:lstStyle/>
          <a:p>
            <a:pPr rtl="1" algn="r" indent="0" marL="0">
              <a:buNone/>
            </a:pPr>
            <a:r>
              <a:rPr lang="he-IL" altLang="en-US" sz="2000" b="1" dirty="0">
                <a:solidFill>
                  <a:srgbClr val="1B2A41"/>
                </a:solidFill>
                <a:latin typeface="Calibri" pitchFamily="34" charset="0"/>
                <a:ea typeface="Calibri" pitchFamily="34" charset="-122"/>
                <a:cs typeface="Calibri" pitchFamily="34" charset="-120"/>
              </a:rPr>
              <a:t>איתור הבעיה: תצפית, השערה, בדיקה בקוד, אימות במספרים</a:t>
            </a:r>
            <a:endParaRPr lang="he-IL" sz="2000" dirty="0"/>
          </a:p>
        </p:txBody>
      </p:sp>
      <p:sp>
        <p:nvSpPr>
          <p:cNvPr id="3" name="obs-hyp-code"/>
          <p:cNvSpPr txBox="1"/>
          <p:nvPr/>
        </p:nvSpPr>
        <p:spPr>
          <a:xfrm>
            <a:off x="4754880" y="914400"/>
            <a:ext cx="3931920" cy="3767328"/>
          </a:xfrm>
          <a:prstGeom prst="rect">
            <a:avLst/>
          </a:prstGeom>
          <a:solidFill>
            <a:srgbClr val="F3F5F8"/>
          </a:solidFill>
          <a:ln w="6350">
            <a:solidFill>
              <a:srgbClr val="C9D2DE"/>
            </a:solidFill>
          </a:ln>
        </p:spPr>
        <p:txBody>
          <a:bodyPr wrap="square" lIns="50800" tIns="101600" rIns="101600" bIns="50800" rtlCol="0" anchor="t"/>
          <a:lstStyle/>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1. תצפית, מניתוח הכשלים של המערכת המקורית</a:t>
            </a:r>
            <a:endParaRPr lang="he-IL" sz="1150" dirty="0"/>
          </a:p>
          <a:p>
            <a:pPr rtl="1" algn="r" indent="0" marL="0">
              <a:spcAft>
                <a:spcPts val="200"/>
              </a:spcAft>
              <a:buNone/>
            </a:pPr>
            <a:r>
              <a:rPr lang="he-IL" altLang="en-US" sz="1050" dirty="0">
                <a:solidFill>
                  <a:srgbClr val="1B2A41"/>
                </a:solidFill>
                <a:latin typeface="Calibri" pitchFamily="34" charset="0"/>
                <a:ea typeface="Calibri" pitchFamily="34" charset="-122"/>
                <a:cs typeface="Calibri" pitchFamily="34" charset="-120"/>
              </a:rPr>
              <a:t>שאלה מסט הבדיקה: "דרכון דחוף". העמוד הנכון: הוצאת דרכון זמני.</a:t>
            </a:r>
            <a:endParaRPr lang="he-IL" sz="1150" dirty="0"/>
          </a:p>
          <a:p>
            <a:pPr rtl="1" algn="r" indent="0" marL="0">
              <a:spcAft>
                <a:spcPts val="200"/>
              </a:spcAft>
              <a:buNone/>
            </a:pPr>
            <a:r>
              <a:rPr lang="he-IL" altLang="en-US" sz="1050" b="1" dirty="0">
                <a:solidFill>
                  <a:srgbClr val="1B2A41"/>
                </a:solidFill>
                <a:latin typeface="Calibri" pitchFamily="34" charset="0"/>
                <a:ea typeface="Calibri" pitchFamily="34" charset="-122"/>
                <a:cs typeface="Calibri" pitchFamily="34" charset="-120"/>
              </a:rPr>
              <a:t>הוחזר: 1. הוצאת דרכון ביומטרי   2. הוצאת דרכון זמני</a:t>
            </a:r>
            <a:endParaRPr lang="he-IL" sz="1150" dirty="0"/>
          </a:p>
          <a:p>
            <a:pPr rtl="1" algn="r" indent="0" marL="0">
              <a:spcAft>
                <a:spcPts val="200"/>
              </a:spcAft>
              <a:buNone/>
            </a:pPr>
            <a:r>
              <a:rPr lang="he-IL" altLang="en-US" sz="1050" dirty="0">
                <a:solidFill>
                  <a:srgbClr val="1B2A41"/>
                </a:solidFill>
                <a:latin typeface="Calibri" pitchFamily="34" charset="0"/>
                <a:ea typeface="Calibri" pitchFamily="34" charset="-122"/>
                <a:cs typeface="Calibri" pitchFamily="34" charset="-120"/>
              </a:rPr>
              <a:t>הדפוס חזר: הנושא נכון, העמוד שגוי, והשגוי הוא "אח" של הנכון (זוג עם ילדים / ללא ילדים, השלמת הכנסה לזיקנה / לשאירים).</a:t>
            </a:r>
            <a:endParaRPr lang="he-IL" sz="1150" dirty="0"/>
          </a:p>
          <a:p>
            <a:pPr rtl="1" algn="r" indent="0" marL="0">
              <a:spcAft>
                <a:spcPts val="200"/>
              </a:spcAft>
              <a:buNone/>
            </a:pPr>
            <a:r>
              <a:rPr lang="he-IL" altLang="en-US" sz="400" dirty="0">
                <a:solidFill>
                  <a:srgbClr val="1B2A41"/>
                </a:solidFill>
                <a:latin typeface="Calibri" pitchFamily="34" charset="0"/>
                <a:ea typeface="Calibri" pitchFamily="34" charset="-122"/>
                <a:cs typeface="Calibri" pitchFamily="34" charset="-120"/>
              </a:rPr>
              <a:t> </a:t>
            </a:r>
            <a:endParaRPr lang="he-IL" sz="1150" dirty="0"/>
          </a:p>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2. השערה</a:t>
            </a:r>
            <a:endParaRPr lang="he-IL" sz="1150" dirty="0"/>
          </a:p>
          <a:p>
            <a:pPr rtl="1" algn="r" indent="0" marL="0">
              <a:spcAft>
                <a:spcPts val="200"/>
              </a:spcAft>
              <a:buNone/>
            </a:pPr>
            <a:r>
              <a:rPr lang="he-IL" altLang="en-US" sz="1050" dirty="0">
                <a:solidFill>
                  <a:srgbClr val="1B2A41"/>
                </a:solidFill>
                <a:latin typeface="Calibri" pitchFamily="34" charset="0"/>
                <a:ea typeface="Calibri" pitchFamily="34" charset="-122"/>
                <a:cs typeface="Calibri" pitchFamily="34" charset="-120"/>
              </a:rPr>
              <a:t>גוף הטקסט של עמודים אחים כמעט זהה; מה שמבדיל ביניהם הוא כותרת העמוד. אם המודל לא רואה את הכותרת, אין לו על מה להבדיל.</a:t>
            </a:r>
            <a:endParaRPr lang="he-IL" sz="1150" dirty="0"/>
          </a:p>
          <a:p>
            <a:pPr rtl="1" algn="r" indent="0" marL="0">
              <a:spcAft>
                <a:spcPts val="200"/>
              </a:spcAft>
              <a:buNone/>
            </a:pPr>
            <a:r>
              <a:rPr lang="he-IL" altLang="en-US" sz="400" dirty="0">
                <a:solidFill>
                  <a:srgbClr val="1B2A41"/>
                </a:solidFill>
                <a:latin typeface="Calibri" pitchFamily="34" charset="0"/>
                <a:ea typeface="Calibri" pitchFamily="34" charset="-122"/>
                <a:cs typeface="Calibri" pitchFamily="34" charset="-120"/>
              </a:rPr>
              <a:t> </a:t>
            </a:r>
            <a:endParaRPr lang="he-IL" sz="1150" dirty="0"/>
          </a:p>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3. בדיקה בקוד</a:t>
            </a:r>
            <a:endParaRPr lang="he-IL" sz="1150" dirty="0"/>
          </a:p>
          <a:p>
            <a:pPr rtl="1" algn="r" indent="0" marL="0">
              <a:spcAft>
                <a:spcPts val="200"/>
              </a:spcAft>
              <a:buNone/>
            </a:pPr>
            <a:r>
              <a:rPr lang="he-IL" altLang="en-US" sz="1050" dirty="0">
                <a:solidFill>
                  <a:srgbClr val="1B2A41"/>
                </a:solidFill>
                <a:latin typeface="Calibri" pitchFamily="34" charset="0"/>
                <a:ea typeface="Calibri" pitchFamily="34" charset="-122"/>
                <a:cs typeface="Calibri" pitchFamily="34" charset="-120"/>
              </a:rPr>
              <a:t>בקובץ ההגדרות של ה-Demo השדה שמוטמע (field_to_embed) הוא content בלבד. הכותרת נשמרת באינדקס ליד הפסקה ולא נכנסת למודל.</a:t>
            </a:r>
            <a:endParaRPr lang="he-IL" sz="1150" dirty="0"/>
          </a:p>
        </p:txBody>
      </p:sp>
      <p:sp>
        <p:nvSpPr>
          <p:cNvPr id="4" name="numbers"/>
          <p:cNvSpPr txBox="1"/>
          <p:nvPr/>
        </p:nvSpPr>
        <p:spPr>
          <a:xfrm>
            <a:off x="457200" y="914400"/>
            <a:ext cx="4114800" cy="3767328"/>
          </a:xfrm>
          <a:prstGeom prst="rect">
            <a:avLst/>
          </a:prstGeom>
          <a:solidFill>
            <a:srgbClr val="F3F5F8"/>
          </a:solidFill>
          <a:ln w="6350">
            <a:solidFill>
              <a:srgbClr val="C9D2DE"/>
            </a:solidFill>
          </a:ln>
        </p:spPr>
        <p:txBody>
          <a:bodyPr wrap="square" lIns="50800" tIns="101600" rIns="101600" bIns="50800" rtlCol="0" anchor="t"/>
          <a:lstStyle/>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4. אימות במספרים (296 שאלות סט האימות של קוד האימון, 24,487 פסקאות)</a:t>
            </a:r>
            <a:endParaRPr lang="he-IL" sz="1150" dirty="0"/>
          </a:p>
          <a:p>
            <a:pPr rtl="1" algn="r" indent="0" marL="0">
              <a:spcAft>
                <a:spcPts val="200"/>
              </a:spcAft>
              <a:buNone/>
            </a:pPr>
            <a:r>
              <a:rPr lang="he-IL" altLang="en-US" sz="1050" dirty="0">
                <a:solidFill>
                  <a:srgbClr val="1B2A41"/>
                </a:solidFill>
                <a:latin typeface="Calibri" pitchFamily="34" charset="0"/>
                <a:ea typeface="Calibri" pitchFamily="34" charset="-122"/>
                <a:cs typeface="Calibri" pitchFamily="34" charset="-120"/>
              </a:rPr>
              <a:t>המערכת המקורית: מקום ראשון 36.8%, בשלושת הראשונים 58.1%. ה-Demo שולח ל-LLM שלושה עמודים, כך שב-42% מהשאלות הנכון אינו ביניהם.</a:t>
            </a:r>
            <a:endParaRPr lang="he-IL" sz="1150" dirty="0"/>
          </a:p>
          <a:p>
            <a:pPr rtl="1" algn="r" indent="0" marL="0">
              <a:spcAft>
                <a:spcPts val="200"/>
              </a:spcAft>
              <a:buNone/>
            </a:pPr>
            <a:r>
              <a:rPr lang="he-IL" altLang="en-US" sz="400" dirty="0">
                <a:solidFill>
                  <a:srgbClr val="1B2A41"/>
                </a:solidFill>
                <a:latin typeface="Calibri" pitchFamily="34" charset="0"/>
                <a:ea typeface="Calibri" pitchFamily="34" charset="-122"/>
                <a:cs typeface="Calibri" pitchFamily="34" charset="-120"/>
              </a:rPr>
              <a:t> </a:t>
            </a:r>
            <a:endParaRPr lang="he-IL" sz="1150" dirty="0"/>
          </a:p>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187 כשלים לפי מיקום העמוד הנכון:</a:t>
            </a:r>
            <a:endParaRPr lang="he-IL" sz="1150" dirty="0"/>
          </a:p>
          <a:p>
            <a:pPr rtl="1" algn="r" marL="342900" indent="-342900">
              <a:spcAft>
                <a:spcPts val="200"/>
              </a:spcAft>
              <a:buSzPct val="100000"/>
              <a:buChar char="•"/>
            </a:pPr>
            <a:r>
              <a:rPr lang="he-IL" altLang="en-US" sz="1050" dirty="0">
                <a:solidFill>
                  <a:srgbClr val="1B2A41"/>
                </a:solidFill>
                <a:latin typeface="Calibri" pitchFamily="34" charset="0"/>
                <a:ea typeface="Calibri" pitchFamily="34" charset="-122"/>
                <a:cs typeface="Calibri" pitchFamily="34" charset="-120"/>
              </a:rPr>
              <a:t>מקום 2–3: 63, ברובם עמוד אח ראשון. זה הדפוס מהתצפית.</a:t>
            </a:r>
            <a:endParaRPr lang="he-IL" sz="1150" dirty="0"/>
          </a:p>
          <a:p>
            <a:pPr rtl="1" algn="r" marL="342900" indent="-342900">
              <a:spcAft>
                <a:spcPts val="200"/>
              </a:spcAft>
              <a:buSzPct val="100000"/>
              <a:buChar char="•"/>
            </a:pPr>
            <a:r>
              <a:rPr lang="he-IL" altLang="en-US" sz="1050" dirty="0">
                <a:solidFill>
                  <a:srgbClr val="1B2A41"/>
                </a:solidFill>
                <a:latin typeface="Calibri" pitchFamily="34" charset="0"/>
                <a:ea typeface="Calibri" pitchFamily="34" charset="-122"/>
                <a:cs typeface="Calibri" pitchFamily="34" charset="-120"/>
              </a:rPr>
              <a:t>מקום 4–10: 53, מעורב; עמודי "מדריך" כלליים גוברים.</a:t>
            </a:r>
            <a:endParaRPr lang="he-IL" sz="1150" dirty="0"/>
          </a:p>
          <a:p>
            <a:pPr rtl="1" algn="r" marL="342900" indent="-342900">
              <a:spcAft>
                <a:spcPts val="200"/>
              </a:spcAft>
              <a:buSzPct val="100000"/>
              <a:buChar char="•"/>
            </a:pPr>
            <a:r>
              <a:rPr lang="he-IL" altLang="en-US" sz="1050" dirty="0">
                <a:solidFill>
                  <a:srgbClr val="1B2A41"/>
                </a:solidFill>
                <a:latin typeface="Calibri" pitchFamily="34" charset="0"/>
                <a:ea typeface="Calibri" pitchFamily="34" charset="-122"/>
                <a:cs typeface="Calibri" pitchFamily="34" charset="-120"/>
              </a:rPr>
              <a:t>מעל 10: 71, שאלות שלא מזהות עמוד בכוחות עצמן. התקרה.</a:t>
            </a:r>
            <a:endParaRPr lang="he-IL" sz="1150" dirty="0"/>
          </a:p>
          <a:p>
            <a:pPr rtl="1" algn="r" indent="0" marL="0">
              <a:spcAft>
                <a:spcPts val="200"/>
              </a:spcAft>
              <a:buNone/>
            </a:pPr>
            <a:r>
              <a:rPr lang="he-IL" altLang="en-US" sz="400" dirty="0">
                <a:solidFill>
                  <a:srgbClr val="1B2A41"/>
                </a:solidFill>
                <a:latin typeface="Calibri" pitchFamily="34" charset="0"/>
                <a:ea typeface="Calibri" pitchFamily="34" charset="-122"/>
                <a:cs typeface="Calibri" pitchFamily="34" charset="-120"/>
              </a:rPr>
              <a:t> </a:t>
            </a:r>
            <a:endParaRPr lang="he-IL" sz="1150" dirty="0"/>
          </a:p>
          <a:p>
            <a:pPr rtl="1" algn="r" indent="0" marL="0">
              <a:spcAft>
                <a:spcPts val="200"/>
              </a:spcAft>
              <a:buNone/>
            </a:pPr>
            <a:r>
              <a:rPr lang="he-IL" altLang="en-US" sz="1050" b="1" dirty="0">
                <a:solidFill>
                  <a:srgbClr val="1B2A41"/>
                </a:solidFill>
                <a:latin typeface="Calibri" pitchFamily="34" charset="0"/>
                <a:ea typeface="Calibri" pitchFamily="34" charset="-122"/>
                <a:cs typeface="Calibri" pitchFamily="34" charset="-120"/>
              </a:rPr>
              <a:t>64% מהפסקאות כבר נפתחות בכותרת הסעיף, כך שהסעיף בווקטור. החלק היחיד שחסר הוא כותרת העמוד.</a:t>
            </a:r>
            <a:endParaRPr lang="he-IL" sz="1150" dirty="0"/>
          </a:p>
        </p:txBody>
      </p:sp>
      <p:sp>
        <p:nvSpPr>
          <p:cNvPr id="5" name="Text 3"/>
          <p:cNvSpPr txBox="1"/>
          <p:nvPr/>
        </p:nvSpPr>
        <p:spPr>
          <a:xfrm>
            <a:off x="822960" y="4773168"/>
            <a:ext cx="7863840" cy="256032"/>
          </a:xfrm>
          <a:prstGeom prst="rect">
            <a:avLst/>
          </a:prstGeom>
          <a:noFill/>
          <a:ln/>
        </p:spPr>
        <p:txBody>
          <a:bodyPr wrap="square" lIns="0" tIns="0" rIns="0" bIns="0" rtlCol="0" anchor="ctr"/>
          <a:lstStyle/>
          <a:p>
            <a:pPr rtl="1" algn="r" indent="0" marL="0">
              <a:buNone/>
            </a:pPr>
            <a:r>
              <a:rPr lang="he-IL" altLang="en-US" sz="800" dirty="0">
                <a:solidFill>
                  <a:srgbClr val="4A5A70"/>
                </a:solidFill>
                <a:latin typeface="Calibri" pitchFamily="34" charset="0"/>
                <a:ea typeface="Calibri" pitchFamily="34" charset="-122"/>
                <a:cs typeface="Calibri" pitchFamily="34" charset="-120"/>
              </a:rPr>
              <a:t>מקורות: ‪APPENDIX.md; results/content__heldout.csv; results/title_content__heldout.csv; retrieval_eval/error_table.py‬</a:t>
            </a:r>
            <a:endParaRPr lang="he-IL" sz="800" dirty="0"/>
          </a:p>
        </p:txBody>
      </p:sp>
      <p:sp>
        <p:nvSpPr>
          <p:cNvPr id="25" name="Slide Number Placeholder 0"/>
          <p:cNvSpPr>
            <a:spLocks noGrp="1"/>
          </p:cNvSpPr>
          <p:nvPr>
            <p:ph type="sldNum" sz="quarter" idx="4294967295"/>
          </p:nvPr>
        </p:nvSpPr>
        <p:spPr>
          <a:xfrm>
            <a:off x="27432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548640"/>
          </a:xfrm>
          <a:prstGeom prst="rect">
            <a:avLst/>
          </a:prstGeom>
          <a:noFill/>
          <a:ln/>
        </p:spPr>
        <p:txBody>
          <a:bodyPr wrap="square" lIns="0" tIns="0" rIns="0" bIns="0" rtlCol="0" anchor="t"/>
          <a:lstStyle/>
          <a:p>
            <a:pPr rtl="1" algn="r" indent="0" marL="0">
              <a:buNone/>
            </a:pPr>
            <a:r>
              <a:rPr lang="he-IL" altLang="en-US" sz="2000" b="1" dirty="0">
                <a:solidFill>
                  <a:srgbClr val="1B2A41"/>
                </a:solidFill>
                <a:latin typeface="Calibri" pitchFamily="34" charset="0"/>
                <a:ea typeface="Calibri" pitchFamily="34" charset="-122"/>
                <a:cs typeface="Calibri" pitchFamily="34" charset="-120"/>
              </a:rPr>
              <a:t>הפתרון: כותרת העמוד נכנסת למה שמוטמע. נמדד על שלושה סטים</a:t>
            </a:r>
            <a:endParaRPr lang="he-IL" sz="2000" dirty="0"/>
          </a:p>
        </p:txBody>
      </p:sp>
      <p:sp>
        <p:nvSpPr>
          <p:cNvPr id="3" name="what"/>
          <p:cNvSpPr txBox="1"/>
          <p:nvPr/>
        </p:nvSpPr>
        <p:spPr>
          <a:xfrm>
            <a:off x="457200" y="868680"/>
            <a:ext cx="8229600" cy="868680"/>
          </a:xfrm>
          <a:prstGeom prst="rect">
            <a:avLst/>
          </a:prstGeom>
          <a:solidFill>
            <a:srgbClr val="F3F5F8"/>
          </a:solidFill>
          <a:ln w="6350">
            <a:solidFill>
              <a:srgbClr val="C9D2DE"/>
            </a:solidFill>
          </a:ln>
        </p:spPr>
        <p:txBody>
          <a:bodyPr wrap="square" lIns="50800" tIns="101600" rIns="101600" bIns="50800" rtlCol="0" anchor="t"/>
          <a:lstStyle/>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מה השתנה</a:t>
            </a:r>
            <a:endParaRPr lang="he-IL" sz="1150" dirty="0"/>
          </a:p>
          <a:p>
            <a:pPr rtl="1" algn="r" indent="0" marL="0">
              <a:spcAft>
                <a:spcPts val="200"/>
              </a:spcAft>
              <a:buNone/>
            </a:pPr>
            <a:r>
              <a:rPr lang="he-IL" altLang="en-US" sz="1050" dirty="0">
                <a:solidFill>
                  <a:srgbClr val="1B2A41"/>
                </a:solidFill>
                <a:latin typeface="Calibri" pitchFamily="34" charset="0"/>
                <a:ea typeface="Calibri" pitchFamily="34" charset="-122"/>
                <a:cs typeface="Calibri" pitchFamily="34" charset="-120"/>
              </a:rPr>
              <a:t>מפתח אחד בקובץ ההגדרות (embed_context_fields עם השדה title): הטקסט שמוטמע בבניית האינדקס הופך לכותרת העמוד, שורה חדשה, ואז הפסקה.</a:t>
            </a:r>
            <a:endParaRPr lang="he-IL" sz="1150" dirty="0"/>
          </a:p>
          <a:p>
            <a:pPr rtl="1" algn="r" indent="0" marL="0">
              <a:spcAft>
                <a:spcPts val="200"/>
              </a:spcAft>
              <a:buNone/>
            </a:pPr>
            <a:r>
              <a:rPr lang="he-IL" altLang="en-US" sz="1050" dirty="0">
                <a:solidFill>
                  <a:srgbClr val="1B2A41"/>
                </a:solidFill>
                <a:latin typeface="Calibri" pitchFamily="34" charset="0"/>
                <a:ea typeface="Calibri" pitchFamily="34" charset="-122"/>
                <a:cs typeface="Calibri" pitchFamily="34" charset="-120"/>
              </a:rPr>
              <a:t>המודל לא אומן מחדש. השאלה, החיפוש, מבנה האינדקס, ה-API והממשק לא השתנו. מחיקת המפתח ובנייה מחדש מחזירות את המקור.</a:t>
            </a:r>
            <a:endParaRPr lang="he-IL"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8229600" cy="914400"/>
        </p:xfrm>
        <a:graphic>
          <a:graphicData uri="http://schemas.openxmlformats.org/drawingml/2006/table">
            <a:tbl>
              <a:tblPr/>
              <a:tblGrid>
                <a:gridCol w="1645920"/>
                <a:gridCol w="1645920"/>
                <a:gridCol w="1645920"/>
                <a:gridCol w="3291840"/>
              </a:tblGrid>
              <a:tr h="246888">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ציבורי, 300</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נקי, 150</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Webiks, 296</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rtl="1" algn="r" indent="0" marL="0">
                        <a:buNone/>
                      </a:pPr>
                      <a:r>
                        <a:rPr lang="he-IL" altLang="en-US" sz="1000" b="1" dirty="0">
                          <a:solidFill>
                            <a:srgbClr val="FFFFFF"/>
                          </a:solidFill>
                          <a:latin typeface="Calibri" pitchFamily="34" charset="0"/>
                          <a:ea typeface="Calibri" pitchFamily="34" charset="-122"/>
                          <a:cs typeface="Calibri" pitchFamily="34" charset="-120"/>
                        </a:rPr>
                        <a:t>גרסה</a:t>
                      </a:r>
                      <a:endParaRPr lang="he-IL"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r>
              <a:tr h="246888">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55.3 / 74.7</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53.3 / 74.7</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36.8 / 58.1</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rtl="1" algn="r" indent="0" marL="0">
                        <a:buNone/>
                      </a:pPr>
                      <a:r>
                        <a:rPr lang="he-IL" altLang="en-US" sz="1000" dirty="0">
                          <a:solidFill>
                            <a:srgbClr val="1B2A41"/>
                          </a:solidFill>
                          <a:latin typeface="Calibri" pitchFamily="34" charset="0"/>
                          <a:ea typeface="Calibri" pitchFamily="34" charset="-122"/>
                          <a:cs typeface="Calibri" pitchFamily="34" charset="-120"/>
                        </a:rPr>
                        <a:t>המערכת המקורית</a:t>
                      </a:r>
                      <a:endParaRPr lang="he-IL"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246888">
                <a:tc>
                  <a:txBody>
                    <a:bodyPr/>
                    <a:lstStyle/>
                    <a:p>
                      <a:pPr algn="ctr" indent="0" marL="0">
                        <a:buNone/>
                      </a:pPr>
                      <a:r>
                        <a:rPr lang="en-US" sz="1000" b="1" dirty="0">
                          <a:solidFill>
                            <a:srgbClr val="1B2A41"/>
                          </a:solidFill>
                          <a:latin typeface="Calibri" pitchFamily="34" charset="0"/>
                          <a:ea typeface="Calibri" pitchFamily="34" charset="-122"/>
                          <a:cs typeface="Calibri" pitchFamily="34" charset="-120"/>
                        </a:rPr>
                        <a:t>53.7 / 75.7</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E7F2EA"/>
                    </a:solidFill>
                  </a:tcPr>
                </a:tc>
                <a:tc>
                  <a:txBody>
                    <a:bodyPr/>
                    <a:lstStyle/>
                    <a:p>
                      <a:pPr algn="ctr" indent="0" marL="0">
                        <a:buNone/>
                      </a:pPr>
                      <a:r>
                        <a:rPr lang="en-US" sz="1000" b="1" dirty="0">
                          <a:solidFill>
                            <a:srgbClr val="1B2A41"/>
                          </a:solidFill>
                          <a:latin typeface="Calibri" pitchFamily="34" charset="0"/>
                          <a:ea typeface="Calibri" pitchFamily="34" charset="-122"/>
                          <a:cs typeface="Calibri" pitchFamily="34" charset="-120"/>
                        </a:rPr>
                        <a:t>60.0 / 78.7</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E7F2EA"/>
                    </a:solidFill>
                  </a:tcPr>
                </a:tc>
                <a:tc>
                  <a:txBody>
                    <a:bodyPr/>
                    <a:lstStyle/>
                    <a:p>
                      <a:pPr algn="ctr" indent="0" marL="0">
                        <a:buNone/>
                      </a:pPr>
                      <a:r>
                        <a:rPr lang="en-US" sz="1000" b="1" dirty="0">
                          <a:solidFill>
                            <a:srgbClr val="1B2A41"/>
                          </a:solidFill>
                          <a:latin typeface="Calibri" pitchFamily="34" charset="0"/>
                          <a:ea typeface="Calibri" pitchFamily="34" charset="-122"/>
                          <a:cs typeface="Calibri" pitchFamily="34" charset="-120"/>
                        </a:rPr>
                        <a:t>46.3 / 64.5</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E7F2EA"/>
                    </a:solidFill>
                  </a:tcPr>
                </a:tc>
                <a:tc>
                  <a:txBody>
                    <a:bodyPr/>
                    <a:lstStyle/>
                    <a:p>
                      <a:pPr rtl="1" algn="r" indent="0" marL="0">
                        <a:buNone/>
                      </a:pPr>
                      <a:r>
                        <a:rPr lang="he-IL" altLang="en-US" sz="1000" b="1" dirty="0">
                          <a:solidFill>
                            <a:srgbClr val="1B2A41"/>
                          </a:solidFill>
                          <a:latin typeface="Calibri" pitchFamily="34" charset="0"/>
                          <a:ea typeface="Calibri" pitchFamily="34" charset="-122"/>
                          <a:cs typeface="Calibri" pitchFamily="34" charset="-120"/>
                        </a:rPr>
                        <a:t>כותרת בטקסט (נשלח)</a:t>
                      </a:r>
                      <a:endParaRPr lang="he-IL"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246888">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54.3 / 73.0</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56.0 / 77.3</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52.7 / 70.9</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rtl="1" algn="r" indent="0" marL="0">
                        <a:buNone/>
                      </a:pPr>
                      <a:r>
                        <a:rPr lang="he-IL" altLang="en-US" sz="1000" dirty="0">
                          <a:solidFill>
                            <a:srgbClr val="1B2A41"/>
                          </a:solidFill>
                          <a:latin typeface="Calibri" pitchFamily="34" charset="0"/>
                          <a:ea typeface="Calibri" pitchFamily="34" charset="-122"/>
                          <a:cs typeface="Calibri" pitchFamily="34" charset="-120"/>
                        </a:rPr>
                        <a:t>+ וקטור כותרת 0.3 (נבדק, כבוי)</a:t>
                      </a:r>
                      <a:endParaRPr lang="he-IL"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246888">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60.7 / 77.3</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66.7 / 84.0</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1000" dirty="0">
                          <a:solidFill>
                            <a:srgbClr val="1B2A41"/>
                          </a:solidFill>
                          <a:latin typeface="Calibri" pitchFamily="34" charset="0"/>
                          <a:ea typeface="Calibri" pitchFamily="34" charset="-122"/>
                          <a:cs typeface="Calibri" pitchFamily="34" charset="-120"/>
                        </a:rPr>
                        <a:t>60.1 / 75.3</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rtl="1" algn="r" indent="0" marL="0">
                        <a:buNone/>
                      </a:pPr>
                      <a:r>
                        <a:rPr lang="he-IL" altLang="en-US" sz="1000" dirty="0">
                          <a:solidFill>
                            <a:srgbClr val="1B2A41"/>
                          </a:solidFill>
                          <a:latin typeface="Calibri" pitchFamily="34" charset="0"/>
                          <a:ea typeface="Calibri" pitchFamily="34" charset="-122"/>
                          <a:cs typeface="Calibri" pitchFamily="34" charset="-120"/>
                        </a:rPr>
                        <a:t>+ דירוג LLM לפי כותרות (אופציונלי, כבוי)</a:t>
                      </a:r>
                      <a:endParaRPr lang="he-IL"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bl>
          </a:graphicData>
        </a:graphic>
      </p:graphicFrame>
      <p:sp>
        <p:nvSpPr>
          <p:cNvPr id="5" name="Text 2"/>
          <p:cNvSpPr txBox="1"/>
          <p:nvPr/>
        </p:nvSpPr>
        <p:spPr>
          <a:xfrm>
            <a:off x="457200" y="3090672"/>
            <a:ext cx="8229600" cy="182880"/>
          </a:xfrm>
          <a:prstGeom prst="rect">
            <a:avLst/>
          </a:prstGeom>
          <a:noFill/>
          <a:ln/>
        </p:spPr>
        <p:txBody>
          <a:bodyPr wrap="square" lIns="0" tIns="0" rIns="0" bIns="0" rtlCol="0" anchor="ctr"/>
          <a:lstStyle/>
          <a:p>
            <a:pPr rtl="1" algn="r" indent="0" marL="0">
              <a:buNone/>
            </a:pPr>
            <a:r>
              <a:rPr lang="he-IL" altLang="en-US" sz="850" i="1" dirty="0">
                <a:solidFill>
                  <a:srgbClr val="4A5A70"/>
                </a:solidFill>
                <a:latin typeface="Calibri" pitchFamily="34" charset="0"/>
                <a:ea typeface="Calibri" pitchFamily="34" charset="-122"/>
                <a:cs typeface="Calibri" pitchFamily="34" charset="-120"/>
              </a:rPr>
              <a:t>מקום ראשון / שלושת הראשונים, %. שורת הדירוג מחדש נמדדה ב-title_llm.py, שהבסיס שלו שונה מזה בעד 2 שאלות.</a:t>
            </a:r>
            <a:endParaRPr lang="he-IL" sz="850" dirty="0"/>
          </a:p>
        </p:txBody>
      </p:sp>
      <p:sp>
        <p:nvSpPr>
          <p:cNvPr id="6" name="sets"/>
          <p:cNvSpPr txBox="1"/>
          <p:nvPr/>
        </p:nvSpPr>
        <p:spPr>
          <a:xfrm>
            <a:off x="4663440" y="3310128"/>
            <a:ext cx="4023360" cy="1371600"/>
          </a:xfrm>
          <a:prstGeom prst="rect">
            <a:avLst/>
          </a:prstGeom>
          <a:solidFill>
            <a:srgbClr val="F3F5F8"/>
          </a:solidFill>
          <a:ln w="6350">
            <a:solidFill>
              <a:srgbClr val="C9D2DE"/>
            </a:solidFill>
          </a:ln>
        </p:spPr>
        <p:txBody>
          <a:bodyPr wrap="square" lIns="50800" tIns="101600" rIns="101600" bIns="50800" rtlCol="0" anchor="t"/>
          <a:lstStyle/>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שלושה סטים</a:t>
            </a:r>
            <a:endParaRPr lang="he-IL" sz="1150" dirty="0"/>
          </a:p>
          <a:p>
            <a:pPr rtl="1" algn="r" marL="342900" indent="-342900">
              <a:spcAft>
                <a:spcPts val="200"/>
              </a:spcAft>
              <a:buSzPct val="100000"/>
              <a:buChar char="•"/>
            </a:pPr>
            <a:r>
              <a:rPr lang="he-IL" altLang="en-US" sz="950" dirty="0">
                <a:solidFill>
                  <a:srgbClr val="1B2A41"/>
                </a:solidFill>
                <a:latin typeface="Calibri" pitchFamily="34" charset="0"/>
                <a:ea typeface="Calibri" pitchFamily="34" charset="-122"/>
                <a:cs typeface="Calibri" pitchFamily="34" charset="-120"/>
              </a:rPr>
              <a:t>Webiks: סט האימות של קוד האימון שלהם. הקובץ שימש לאימון, ולכן הטענה היא ההפרש ולא הערך המוחלט.</a:t>
            </a:r>
            <a:endParaRPr lang="he-IL" sz="1150" dirty="0"/>
          </a:p>
          <a:p>
            <a:pPr rtl="1" algn="r" marL="342900" indent="-342900">
              <a:spcAft>
                <a:spcPts val="200"/>
              </a:spcAft>
              <a:buSzPct val="100000"/>
              <a:buChar char="•"/>
            </a:pPr>
            <a:r>
              <a:rPr lang="he-IL" altLang="en-US" sz="950" dirty="0">
                <a:solidFill>
                  <a:srgbClr val="1B2A41"/>
                </a:solidFill>
                <a:latin typeface="Calibri" pitchFamily="34" charset="0"/>
                <a:ea typeface="Calibri" pitchFamily="34" charset="-122"/>
                <a:cs typeface="Calibri" pitchFamily="34" charset="-120"/>
              </a:rPr>
              <a:t>נקי: 150 עמודים שאין עליהם שאלה בקובץ; שאלה לכל עמוד נכתבה מהגוף כשהכותרת מוסתרת.</a:t>
            </a:r>
            <a:endParaRPr lang="he-IL" sz="1150" dirty="0"/>
          </a:p>
          <a:p>
            <a:pPr rtl="1" algn="r" marL="342900" indent="-342900">
              <a:spcAft>
                <a:spcPts val="200"/>
              </a:spcAft>
              <a:buSzPct val="100000"/>
              <a:buChar char="•"/>
            </a:pPr>
            <a:r>
              <a:rPr lang="he-IL" altLang="en-US" sz="950" dirty="0">
                <a:solidFill>
                  <a:srgbClr val="1B2A41"/>
                </a:solidFill>
                <a:latin typeface="Calibri" pitchFamily="34" charset="0"/>
                <a:ea typeface="Calibri" pitchFamily="34" charset="-122"/>
                <a:cs typeface="Calibri" pitchFamily="34" charset="-120"/>
              </a:rPr>
              <a:t>ציבורי: 300 השאלות שפרסם מתחרה ב-fork שלו.</a:t>
            </a:r>
            <a:endParaRPr lang="he-IL" sz="1150" dirty="0"/>
          </a:p>
        </p:txBody>
      </p:sp>
      <p:sp>
        <p:nvSpPr>
          <p:cNvPr id="7" name="why"/>
          <p:cNvSpPr txBox="1"/>
          <p:nvPr/>
        </p:nvSpPr>
        <p:spPr>
          <a:xfrm>
            <a:off x="457200" y="3310128"/>
            <a:ext cx="4023360" cy="1371600"/>
          </a:xfrm>
          <a:prstGeom prst="rect">
            <a:avLst/>
          </a:prstGeom>
          <a:solidFill>
            <a:srgbClr val="F3F5F8"/>
          </a:solidFill>
          <a:ln w="6350">
            <a:solidFill>
              <a:srgbClr val="C9D2DE"/>
            </a:solidFill>
          </a:ln>
        </p:spPr>
        <p:txBody>
          <a:bodyPr wrap="square" lIns="50800" tIns="101600" rIns="101600" bIns="50800" rtlCol="0" anchor="t"/>
          <a:lstStyle/>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למה וקטור הכותרת כובה</a:t>
            </a:r>
            <a:endParaRPr lang="he-IL" sz="1150" dirty="0"/>
          </a:p>
          <a:p>
            <a:pPr rtl="1" algn="r" indent="0" marL="0">
              <a:spcAft>
                <a:spcPts val="200"/>
              </a:spcAft>
              <a:buNone/>
            </a:pPr>
            <a:r>
              <a:rPr lang="he-IL" altLang="en-US" sz="950" dirty="0">
                <a:solidFill>
                  <a:srgbClr val="1B2A41"/>
                </a:solidFill>
                <a:latin typeface="Calibri" pitchFamily="34" charset="0"/>
                <a:ea typeface="Calibri" pitchFamily="34" charset="-122"/>
                <a:cs typeface="Calibri" pitchFamily="34" charset="-120"/>
              </a:rPr>
              <a:t>נשלח עד 04.10. על סט Webiks הוסיף 6.4 נקודות, אבל בשני הסטים העצמאיים החזיר אותן, הורע עם כל עלייה במשקל, והזיק במובהק כשהכותרת לא מתארת את הגוף. המשקל נבחר על שאלות שנכתבו מול העמוד. נשאר במנוע כאופציה כבויה.</a:t>
            </a:r>
            <a:endParaRPr lang="he-IL" sz="1150" dirty="0"/>
          </a:p>
        </p:txBody>
      </p:sp>
      <p:sp>
        <p:nvSpPr>
          <p:cNvPr id="8" name="Text 5"/>
          <p:cNvSpPr txBox="1"/>
          <p:nvPr/>
        </p:nvSpPr>
        <p:spPr>
          <a:xfrm>
            <a:off x="822960" y="4773168"/>
            <a:ext cx="7863840" cy="256032"/>
          </a:xfrm>
          <a:prstGeom prst="rect">
            <a:avLst/>
          </a:prstGeom>
          <a:noFill/>
          <a:ln/>
        </p:spPr>
        <p:txBody>
          <a:bodyPr wrap="square" lIns="0" tIns="0" rIns="0" bIns="0" rtlCol="0" anchor="ctr"/>
          <a:lstStyle/>
          <a:p>
            <a:pPr rtl="1" algn="r" indent="0" marL="0">
              <a:buNone/>
            </a:pPr>
            <a:r>
              <a:rPr lang="he-IL" altLang="en-US" sz="800" dirty="0">
                <a:solidFill>
                  <a:srgbClr val="4A5A70"/>
                </a:solidFill>
                <a:latin typeface="Calibri" pitchFamily="34" charset="0"/>
                <a:ea typeface="Calibri" pitchFamily="34" charset="-122"/>
                <a:cs typeface="Calibri" pitchFamily="34" charset="-120"/>
              </a:rPr>
              <a:t>מקורות: ‪SUBMISSION.md §3; APPENDIX.md §0; results/; retrieval_eval/eval_sets/agent_clean_150/‬</a:t>
            </a:r>
            <a:endParaRPr lang="he-IL" sz="800" dirty="0"/>
          </a:p>
        </p:txBody>
      </p:sp>
      <p:sp>
        <p:nvSpPr>
          <p:cNvPr id="25" name="Slide Number Placeholder 0"/>
          <p:cNvSpPr>
            <a:spLocks noGrp="1"/>
          </p:cNvSpPr>
          <p:nvPr>
            <p:ph type="sldNum" sz="quarter" idx="4294967295"/>
          </p:nvPr>
        </p:nvSpPr>
        <p:spPr>
          <a:xfrm>
            <a:off x="27432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548640"/>
          </a:xfrm>
          <a:prstGeom prst="rect">
            <a:avLst/>
          </a:prstGeom>
          <a:noFill/>
          <a:ln/>
        </p:spPr>
        <p:txBody>
          <a:bodyPr wrap="square" lIns="0" tIns="0" rIns="0" bIns="0" rtlCol="0" anchor="t"/>
          <a:lstStyle/>
          <a:p>
            <a:pPr rtl="1" algn="r" indent="0" marL="0">
              <a:buNone/>
            </a:pPr>
            <a:r>
              <a:rPr lang="he-IL" altLang="en-US" sz="2000" b="1" dirty="0">
                <a:solidFill>
                  <a:srgbClr val="1B2A41"/>
                </a:solidFill>
                <a:latin typeface="Calibri" pitchFamily="34" charset="0"/>
                <a:ea typeface="Calibri" pitchFamily="34" charset="-122"/>
                <a:cs typeface="Calibri" pitchFamily="34" charset="-120"/>
              </a:rPr>
              <a:t>שלב שני אופציונלי, כבוי כברירת מחדל, ומה נבדק ונפסל</a:t>
            </a:r>
            <a:endParaRPr lang="he-IL" sz="2000" dirty="0"/>
          </a:p>
        </p:txBody>
      </p:sp>
      <p:sp>
        <p:nvSpPr>
          <p:cNvPr id="3" name="rerank"/>
          <p:cNvSpPr txBox="1"/>
          <p:nvPr/>
        </p:nvSpPr>
        <p:spPr>
          <a:xfrm>
            <a:off x="4846320" y="868680"/>
            <a:ext cx="3840480" cy="2926080"/>
          </a:xfrm>
          <a:prstGeom prst="rect">
            <a:avLst/>
          </a:prstGeom>
          <a:solidFill>
            <a:srgbClr val="E7F2EA"/>
          </a:solidFill>
          <a:ln w="6350">
            <a:solidFill>
              <a:srgbClr val="C9D2DE"/>
            </a:solidFill>
          </a:ln>
        </p:spPr>
        <p:txBody>
          <a:bodyPr wrap="square" lIns="50800" tIns="101600" rIns="101600" bIns="50800" rtlCol="0" anchor="t"/>
          <a:lstStyle/>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דירוג מחדש לפי כותרות (LLM)</a:t>
            </a:r>
            <a:endParaRPr lang="he-IL" sz="1150" dirty="0"/>
          </a:p>
          <a:p>
            <a:pPr rtl="1" algn="r" marL="342900" indent="-342900">
              <a:spcAft>
                <a:spcPts val="200"/>
              </a:spcAft>
              <a:buSzPct val="100000"/>
              <a:buChar char="•"/>
            </a:pPr>
            <a:r>
              <a:rPr lang="he-IL" altLang="en-US" sz="1000" dirty="0">
                <a:solidFill>
                  <a:srgbClr val="1B2A41"/>
                </a:solidFill>
                <a:latin typeface="Calibri" pitchFamily="34" charset="0"/>
                <a:ea typeface="Calibri" pitchFamily="34" charset="-122"/>
                <a:cs typeface="Calibri" pitchFamily="34" charset="-120"/>
              </a:rPr>
              <a:t>החיפוש מביא 30 עמודים מועמדים; מודל שפה רואה את השאלה ואת 30 הכותרות ומחזיר את הטובים לפי הסדר.</a:t>
            </a:r>
            <a:endParaRPr lang="he-IL" sz="1150" dirty="0"/>
          </a:p>
          <a:p>
            <a:pPr rtl="1" algn="r" marL="342900" indent="-342900">
              <a:spcAft>
                <a:spcPts val="200"/>
              </a:spcAft>
              <a:buSzPct val="100000"/>
              <a:buChar char="•"/>
            </a:pPr>
            <a:r>
              <a:rPr lang="he-IL" altLang="en-US" sz="1000" dirty="0">
                <a:solidFill>
                  <a:srgbClr val="1B2A41"/>
                </a:solidFill>
                <a:latin typeface="Calibri" pitchFamily="34" charset="0"/>
                <a:ea typeface="Calibri" pitchFamily="34" charset="-122"/>
                <a:cs typeface="Calibri" pitchFamily="34" charset="-120"/>
              </a:rPr>
              <a:t>ספקים דרך LLM factory: ‪OpenAI, Azure, Ollama, vLLM, Anthropic, Gemini‬, או כל מודל שנרשם בכמה שורות.</a:t>
            </a:r>
            <a:endParaRPr lang="he-IL" sz="1150" dirty="0"/>
          </a:p>
          <a:p>
            <a:pPr rtl="1" algn="r" marL="342900" indent="-342900">
              <a:spcAft>
                <a:spcPts val="200"/>
              </a:spcAft>
              <a:buSzPct val="100000"/>
              <a:buChar char="•"/>
            </a:pPr>
            <a:r>
              <a:rPr lang="he-IL" altLang="en-US" sz="1000" dirty="0">
                <a:solidFill>
                  <a:srgbClr val="1B2A41"/>
                </a:solidFill>
                <a:latin typeface="Calibri" pitchFamily="34" charset="0"/>
                <a:ea typeface="Calibri" pitchFamily="34" charset="-122"/>
                <a:cs typeface="Calibri" pitchFamily="34" charset="-120"/>
              </a:rPr>
              <a:t>הדלקה: ‪TITLE_RERANK_ENABLED=true‬ בקובץ app/.env, ספק ומודל לבחירה.</a:t>
            </a:r>
            <a:endParaRPr lang="he-IL" sz="1150" dirty="0"/>
          </a:p>
          <a:p>
            <a:pPr rtl="1" algn="r" marL="342900" indent="-342900">
              <a:spcAft>
                <a:spcPts val="200"/>
              </a:spcAft>
              <a:buSzPct val="100000"/>
              <a:buChar char="•"/>
            </a:pPr>
            <a:r>
              <a:rPr lang="he-IL" altLang="en-US" sz="1000" dirty="0">
                <a:solidFill>
                  <a:srgbClr val="1B2A41"/>
                </a:solidFill>
                <a:latin typeface="Calibri" pitchFamily="34" charset="0"/>
                <a:ea typeface="Calibri" pitchFamily="34" charset="-122"/>
                <a:cs typeface="Calibri" pitchFamily="34" charset="-120"/>
              </a:rPr>
              <a:t>בכל תקלה (מפתח, זמן, תשובה לא תקינה) חוזר לסדר הרגיל.</a:t>
            </a:r>
            <a:endParaRPr lang="he-IL" sz="1150" dirty="0"/>
          </a:p>
          <a:p>
            <a:pPr rtl="1" algn="r" indent="0" marL="0">
              <a:spcAft>
                <a:spcPts val="200"/>
              </a:spcAft>
              <a:buNone/>
            </a:pPr>
            <a:r>
              <a:rPr lang="he-IL" altLang="en-US" sz="400" dirty="0">
                <a:solidFill>
                  <a:srgbClr val="1B2A41"/>
                </a:solidFill>
                <a:latin typeface="Calibri" pitchFamily="34" charset="0"/>
                <a:ea typeface="Calibri" pitchFamily="34" charset="-122"/>
                <a:cs typeface="Calibri" pitchFamily="34" charset="-120"/>
              </a:rPr>
              <a:t> </a:t>
            </a:r>
            <a:endParaRPr lang="he-IL" sz="1150" dirty="0"/>
          </a:p>
          <a:p>
            <a:pPr rtl="1" algn="r" indent="0" marL="0">
              <a:spcAft>
                <a:spcPts val="200"/>
              </a:spcAft>
              <a:buNone/>
            </a:pPr>
            <a:r>
              <a:rPr lang="he-IL" altLang="en-US" sz="1000" dirty="0">
                <a:solidFill>
                  <a:srgbClr val="B8541F"/>
                </a:solidFill>
                <a:latin typeface="Calibri" pitchFamily="34" charset="0"/>
                <a:ea typeface="Calibri" pitchFamily="34" charset="-122"/>
                <a:cs typeface="Calibri" pitchFamily="34" charset="-120"/>
              </a:rPr>
              <a:t>מחיר: כ-0.8 שנייה לשאלה, מפתח ל-LLM, ובמצב mock אין השפעה. לכן כבוי. 19 בדיקות; 60 עוברות בסך הכול.</a:t>
            </a:r>
            <a:endParaRPr lang="he-IL"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868680"/>
          <a:ext cx="4206240" cy="914400"/>
        </p:xfrm>
        <a:graphic>
          <a:graphicData uri="http://schemas.openxmlformats.org/drawingml/2006/table">
            <a:tbl>
              <a:tblPr/>
              <a:tblGrid>
                <a:gridCol w="1600200"/>
                <a:gridCol w="1143000"/>
                <a:gridCol w="1463040"/>
              </a:tblGrid>
              <a:tr h="329184">
                <a:tc>
                  <a:txBody>
                    <a:bodyPr/>
                    <a:lstStyle/>
                    <a:p>
                      <a:pPr rtl="1" algn="r" indent="0" marL="0">
                        <a:buNone/>
                      </a:pPr>
                      <a:r>
                        <a:rPr lang="he-IL" altLang="en-US" sz="1000" b="1" dirty="0">
                          <a:solidFill>
                            <a:srgbClr val="FFFFFF"/>
                          </a:solidFill>
                          <a:latin typeface="Calibri" pitchFamily="34" charset="0"/>
                          <a:ea typeface="Calibri" pitchFamily="34" charset="-122"/>
                          <a:cs typeface="Calibri" pitchFamily="34" charset="-120"/>
                        </a:rPr>
                        <a:t>למה לא</a:t>
                      </a:r>
                      <a:endParaRPr lang="he-IL"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שינוי בנקודות: מקום 1 / 3 ראשונים</a:t>
                      </a:r>
                      <a:endParaRPr lang="en-US"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c>
                  <a:txBody>
                    <a:bodyPr/>
                    <a:lstStyle/>
                    <a:p>
                      <a:pPr rtl="1" algn="r" indent="0" marL="0">
                        <a:buNone/>
                      </a:pPr>
                      <a:r>
                        <a:rPr lang="he-IL" altLang="en-US" sz="1000" b="1" dirty="0">
                          <a:solidFill>
                            <a:srgbClr val="FFFFFF"/>
                          </a:solidFill>
                          <a:latin typeface="Calibri" pitchFamily="34" charset="0"/>
                          <a:ea typeface="Calibri" pitchFamily="34" charset="-122"/>
                          <a:cs typeface="Calibri" pitchFamily="34" charset="-120"/>
                        </a:rPr>
                        <a:t>ניסוי</a:t>
                      </a:r>
                      <a:endParaRPr lang="he-IL" sz="10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3D5A80"/>
                    </a:solidFill>
                  </a:tcPr>
                </a:tc>
              </a:tr>
              <a:tr h="566928">
                <a:tc>
                  <a:txBody>
                    <a:bodyPr/>
                    <a:lstStyle/>
                    <a:p>
                      <a:pPr rtl="1" algn="r" indent="0" marL="0">
                        <a:buNone/>
                      </a:pPr>
                      <a:r>
                        <a:rPr lang="he-IL" altLang="en-US" sz="850" dirty="0">
                          <a:solidFill>
                            <a:srgbClr val="4A5A70"/>
                          </a:solidFill>
                          <a:latin typeface="Calibri" pitchFamily="34" charset="0"/>
                          <a:ea typeface="Calibri" pitchFamily="34" charset="-122"/>
                          <a:cs typeface="Calibri" pitchFamily="34" charset="-120"/>
                        </a:rPr>
                        <a:t>מול כותרת בטקסט: מחליף מקום 1 ב-3 ראשונים, אינדקס כפול, LLM מקבל חצאי פסקאות</a:t>
                      </a:r>
                      <a:endParaRPr lang="he-IL" sz="85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900" dirty="0">
                          <a:solidFill>
                            <a:srgbClr val="1B2A41"/>
                          </a:solidFill>
                          <a:latin typeface="Calibri" pitchFamily="34" charset="0"/>
                          <a:ea typeface="Calibri" pitchFamily="34" charset="-122"/>
                          <a:cs typeface="Calibri" pitchFamily="34" charset="-120"/>
                        </a:rPr>
                        <a:t>−5.8 / +2.7</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rtl="1" algn="r" indent="0" marL="0">
                        <a:buNone/>
                      </a:pPr>
                      <a:r>
                        <a:rPr lang="he-IL" altLang="en-US" sz="900" dirty="0">
                          <a:solidFill>
                            <a:srgbClr val="1B2A41"/>
                          </a:solidFill>
                          <a:latin typeface="Calibri" pitchFamily="34" charset="0"/>
                          <a:ea typeface="Calibri" pitchFamily="34" charset="-122"/>
                          <a:cs typeface="Calibri" pitchFamily="34" charset="-120"/>
                        </a:rPr>
                        <a:t>קטעים של 256 טוקנים + כותרת</a:t>
                      </a:r>
                      <a:endParaRPr lang="he-IL"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457200">
                <a:tc>
                  <a:txBody>
                    <a:bodyPr/>
                    <a:lstStyle/>
                    <a:p>
                      <a:pPr rtl="1" algn="r" indent="0" marL="0">
                        <a:buNone/>
                      </a:pPr>
                      <a:r>
                        <a:rPr lang="he-IL" altLang="en-US" sz="850" dirty="0">
                          <a:solidFill>
                            <a:srgbClr val="4A5A70"/>
                          </a:solidFill>
                          <a:latin typeface="Calibri" pitchFamily="34" charset="0"/>
                          <a:ea typeface="Calibri" pitchFamily="34" charset="-122"/>
                          <a:cs typeface="Calibri" pitchFamily="34" charset="-120"/>
                        </a:rPr>
                        <a:t>מול אותה גרסה בלעדיו; עלה 3.34 דולר</a:t>
                      </a:r>
                      <a:endParaRPr lang="he-IL" sz="85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900" dirty="0">
                          <a:solidFill>
                            <a:srgbClr val="1B2A41"/>
                          </a:solidFill>
                          <a:latin typeface="Calibri" pitchFamily="34" charset="0"/>
                          <a:ea typeface="Calibri" pitchFamily="34" charset="-122"/>
                          <a:cs typeface="Calibri" pitchFamily="34" charset="-120"/>
                        </a:rPr>
                        <a:t>−3.7 / −0.6</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rtl="1" algn="r" indent="0" marL="0">
                        <a:buNone/>
                      </a:pPr>
                      <a:r>
                        <a:rPr lang="he-IL" altLang="en-US" sz="900" dirty="0">
                          <a:solidFill>
                            <a:srgbClr val="1B2A41"/>
                          </a:solidFill>
                          <a:latin typeface="Calibri" pitchFamily="34" charset="0"/>
                          <a:ea typeface="Calibri" pitchFamily="34" charset="-122"/>
                          <a:cs typeface="Calibri" pitchFamily="34" charset="-120"/>
                        </a:rPr>
                        <a:t>הקשר שנכתב ב-LLM לכל פסקה</a:t>
                      </a:r>
                      <a:endParaRPr lang="he-IL"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457200">
                <a:tc>
                  <a:txBody>
                    <a:bodyPr/>
                    <a:lstStyle/>
                    <a:p>
                      <a:pPr rtl="1" algn="r" indent="0" marL="0">
                        <a:buNone/>
                      </a:pPr>
                      <a:r>
                        <a:rPr lang="he-IL" altLang="en-US" sz="850" dirty="0">
                          <a:solidFill>
                            <a:srgbClr val="4A5A70"/>
                          </a:solidFill>
                          <a:latin typeface="Calibri" pitchFamily="34" charset="0"/>
                          <a:ea typeface="Calibri" pitchFamily="34" charset="-122"/>
                          <a:cs typeface="Calibri" pitchFamily="34" charset="-120"/>
                        </a:rPr>
                        <a:t>במקרה הטוב; הרבה שינויים לשני הכיוונים; LLM בתוך החיפוש</a:t>
                      </a:r>
                      <a:endParaRPr lang="he-IL" sz="85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900" dirty="0">
                          <a:solidFill>
                            <a:srgbClr val="1B2A41"/>
                          </a:solidFill>
                          <a:latin typeface="Calibri" pitchFamily="34" charset="0"/>
                          <a:ea typeface="Calibri" pitchFamily="34" charset="-122"/>
                          <a:cs typeface="Calibri" pitchFamily="34" charset="-120"/>
                        </a:rPr>
                        <a:t>+2.4 / +3.8</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rtl="1" algn="r" indent="0" marL="0">
                        <a:buNone/>
                      </a:pPr>
                      <a:r>
                        <a:rPr lang="he-IL" altLang="en-US" sz="900" dirty="0">
                          <a:solidFill>
                            <a:srgbClr val="1B2A41"/>
                          </a:solidFill>
                          <a:latin typeface="Calibri" pitchFamily="34" charset="0"/>
                          <a:ea typeface="Calibri" pitchFamily="34" charset="-122"/>
                          <a:cs typeface="Calibri" pitchFamily="34" charset="-120"/>
                        </a:rPr>
                        <a:t>ניסוח מחדש / HyDE / 4 ניסוחים</a:t>
                      </a:r>
                      <a:endParaRPr lang="he-IL"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r h="384048">
                <a:tc>
                  <a:txBody>
                    <a:bodyPr/>
                    <a:lstStyle/>
                    <a:p>
                      <a:pPr rtl="1" algn="r" indent="0" marL="0">
                        <a:buNone/>
                      </a:pPr>
                      <a:r>
                        <a:rPr lang="he-IL" altLang="en-US" sz="850" dirty="0">
                          <a:solidFill>
                            <a:srgbClr val="4A5A70"/>
                          </a:solidFill>
                          <a:latin typeface="Calibri" pitchFamily="34" charset="0"/>
                          <a:ea typeface="Calibri" pitchFamily="34" charset="-122"/>
                          <a:cs typeface="Calibri" pitchFamily="34" charset="-120"/>
                        </a:rPr>
                        <a:t>העמוד מדורג לפי הפסקה הטובה שלו</a:t>
                      </a:r>
                      <a:endParaRPr lang="he-IL" sz="85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algn="ctr" indent="0" marL="0">
                        <a:buNone/>
                      </a:pPr>
                      <a:r>
                        <a:rPr lang="en-US" sz="900" dirty="0">
                          <a:solidFill>
                            <a:srgbClr val="1B2A41"/>
                          </a:solidFill>
                          <a:latin typeface="Calibri" pitchFamily="34" charset="0"/>
                          <a:ea typeface="Calibri" pitchFamily="34" charset="-122"/>
                          <a:cs typeface="Calibri" pitchFamily="34" charset="-120"/>
                        </a:rPr>
                        <a:t>±1.5 / 0</a:t>
                      </a:r>
                      <a:endParaRPr lang="en-US"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c>
                  <a:txBody>
                    <a:bodyPr/>
                    <a:lstStyle/>
                    <a:p>
                      <a:pPr rtl="1" algn="r" indent="0" marL="0">
                        <a:buNone/>
                      </a:pPr>
                      <a:r>
                        <a:rPr lang="he-IL" altLang="en-US" sz="900" dirty="0">
                          <a:solidFill>
                            <a:srgbClr val="1B2A41"/>
                          </a:solidFill>
                          <a:latin typeface="Calibri" pitchFamily="34" charset="0"/>
                          <a:ea typeface="Calibri" pitchFamily="34" charset="-122"/>
                          <a:cs typeface="Calibri" pitchFamily="34" charset="-120"/>
                        </a:rPr>
                        <a:t>סינון טקסט גנרי / 500 מועמדים</a:t>
                      </a:r>
                      <a:endParaRPr lang="he-IL" sz="900" dirty="0">
                        <a:latin typeface="Calibri" charset="0"/>
                        <a:ea typeface="Calibri" charset="0"/>
                        <a:cs typeface="Calibri" charset="0"/>
                      </a:endParaRPr>
                    </a:p>
                  </a:txBody>
                  <a:tcPr marL="91440" marR="91440" marT="45720" marB="4572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tcPr>
                </a:tc>
              </a:tr>
            </a:tbl>
          </a:graphicData>
        </a:graphic>
      </p:graphicFrame>
      <p:sp>
        <p:nvSpPr>
          <p:cNvPr id="5" name="Text 2"/>
          <p:cNvSpPr txBox="1"/>
          <p:nvPr/>
        </p:nvSpPr>
        <p:spPr>
          <a:xfrm>
            <a:off x="457200" y="3566160"/>
            <a:ext cx="4206240" cy="201168"/>
          </a:xfrm>
          <a:prstGeom prst="rect">
            <a:avLst/>
          </a:prstGeom>
          <a:noFill/>
          <a:ln/>
        </p:spPr>
        <p:txBody>
          <a:bodyPr wrap="square" lIns="0" tIns="0" rIns="0" bIns="0" rtlCol="0" anchor="ctr"/>
          <a:lstStyle/>
          <a:p>
            <a:pPr rtl="1" algn="r" indent="0" marL="0">
              <a:buNone/>
            </a:pPr>
            <a:r>
              <a:rPr lang="he-IL" altLang="en-US" sz="850" i="1" dirty="0">
                <a:solidFill>
                  <a:srgbClr val="4A5A70"/>
                </a:solidFill>
                <a:latin typeface="Calibri" pitchFamily="34" charset="0"/>
                <a:ea typeface="Calibri" pitchFamily="34" charset="-122"/>
                <a:cs typeface="Calibri" pitchFamily="34" charset="-120"/>
              </a:rPr>
              <a:t>על 296 שאלות Webiks; כל ניסוי מול אותה מערכת בלעדיו</a:t>
            </a:r>
            <a:endParaRPr lang="he-IL" sz="850" dirty="0"/>
          </a:p>
        </p:txBody>
      </p:sp>
      <p:sp>
        <p:nvSpPr>
          <p:cNvPr id="6" name="next"/>
          <p:cNvSpPr txBox="1"/>
          <p:nvPr/>
        </p:nvSpPr>
        <p:spPr>
          <a:xfrm>
            <a:off x="457200" y="3931920"/>
            <a:ext cx="8229600" cy="749808"/>
          </a:xfrm>
          <a:prstGeom prst="rect">
            <a:avLst/>
          </a:prstGeom>
          <a:solidFill>
            <a:srgbClr val="F3F5F8"/>
          </a:solidFill>
          <a:ln w="6350">
            <a:solidFill>
              <a:srgbClr val="C9D2DE"/>
            </a:solidFill>
          </a:ln>
        </p:spPr>
        <p:txBody>
          <a:bodyPr wrap="square" lIns="50800" tIns="101600" rIns="101600" bIns="50800" rtlCol="0" anchor="t"/>
          <a:lstStyle/>
          <a:p>
            <a:pPr rtl="1" algn="r" indent="0" marL="0">
              <a:spcAft>
                <a:spcPts val="200"/>
              </a:spcAft>
              <a:buNone/>
            </a:pPr>
            <a:r>
              <a:rPr lang="he-IL" altLang="en-US" sz="1150" b="1" dirty="0">
                <a:solidFill>
                  <a:srgbClr val="3D5A80"/>
                </a:solidFill>
                <a:latin typeface="Calibri" pitchFamily="34" charset="0"/>
                <a:ea typeface="Calibri" pitchFamily="34" charset="-122"/>
                <a:cs typeface="Calibri" pitchFamily="34" charset="-120"/>
              </a:rPr>
              <a:t>הצעד הבא</a:t>
            </a:r>
            <a:endParaRPr lang="he-IL" sz="1150" dirty="0"/>
          </a:p>
          <a:p>
            <a:pPr rtl="1" algn="r" indent="0" marL="0">
              <a:spcAft>
                <a:spcPts val="200"/>
              </a:spcAft>
              <a:buNone/>
            </a:pPr>
            <a:r>
              <a:rPr lang="he-IL" altLang="en-US" sz="1000" dirty="0">
                <a:solidFill>
                  <a:srgbClr val="1B2A41"/>
                </a:solidFill>
                <a:latin typeface="Calibri" pitchFamily="34" charset="0"/>
                <a:ea typeface="Calibri" pitchFamily="34" charset="-122"/>
                <a:cs typeface="Calibri" pitchFamily="34" charset="-120"/>
              </a:rPr>
              <a:t>לבדוק את הדירוג מחדש על תנועה אמיתית ומול cross-encoder ברמת פסקה · אחזור קטן-לגדול · סט שאלות שכתבו בני אדם · לתקן במאגר עמודים שהטקסט בהם שייך לעמוד אחר (עד 271 חשודים).</a:t>
            </a:r>
            <a:endParaRPr lang="he-IL" sz="1150" dirty="0"/>
          </a:p>
        </p:txBody>
      </p:sp>
      <p:sp>
        <p:nvSpPr>
          <p:cNvPr id="7" name="Text 4"/>
          <p:cNvSpPr txBox="1"/>
          <p:nvPr/>
        </p:nvSpPr>
        <p:spPr>
          <a:xfrm>
            <a:off x="822960" y="4773168"/>
            <a:ext cx="7863840" cy="256032"/>
          </a:xfrm>
          <a:prstGeom prst="rect">
            <a:avLst/>
          </a:prstGeom>
          <a:noFill/>
          <a:ln/>
        </p:spPr>
        <p:txBody>
          <a:bodyPr wrap="square" lIns="0" tIns="0" rIns="0" bIns="0" rtlCol="0" anchor="ctr"/>
          <a:lstStyle/>
          <a:p>
            <a:pPr rtl="1" algn="r" indent="0" marL="0">
              <a:buNone/>
            </a:pPr>
            <a:r>
              <a:rPr lang="he-IL" altLang="en-US" sz="800" dirty="0">
                <a:solidFill>
                  <a:srgbClr val="4A5A70"/>
                </a:solidFill>
                <a:latin typeface="Calibri" pitchFamily="34" charset="0"/>
                <a:ea typeface="Calibri" pitchFamily="34" charset="-122"/>
                <a:cs typeface="Calibri" pitchFamily="34" charset="-120"/>
              </a:rPr>
              <a:t>מקורות: ‪app/src/title_rerank.py; app/src/llm_factory.py; app/.env-example; retrieval_eval/title_llm.py; docs/screenshots/06-08‬</a:t>
            </a:r>
            <a:endParaRPr lang="he-IL" sz="800" dirty="0"/>
          </a:p>
        </p:txBody>
      </p:sp>
      <p:sp>
        <p:nvSpPr>
          <p:cNvPr id="25" name="Slide Number Placeholder 0"/>
          <p:cNvSpPr>
            <a:spLocks noGrp="1"/>
          </p:cNvSpPr>
          <p:nvPr>
            <p:ph type="sldNum" sz="quarter" idx="4294967295"/>
          </p:nvPr>
        </p:nvSpPr>
        <p:spPr>
          <a:xfrm>
            <a:off x="27432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5A70"/>
                </a:solidFill>
              </a:defRPr>
            </a:lvl1pPr>
          </a:lstStyle>
          <a:p>
            <a:pPr algn="l"/>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שיפור האחזור: כותרת העמוד בווקטור</dc:title>
  <dc:subject>PptxGenJS Presentation</dc:subject>
  <dc:creator>Ariel Halevy</dc:creator>
  <cp:lastModifiedBy>Ariel Halevy</cp:lastModifiedBy>
  <cp:revision>1</cp:revision>
  <dcterms:created xsi:type="dcterms:W3CDTF">2026-10-04T23:18:38Z</dcterms:created>
  <dcterms:modified xsi:type="dcterms:W3CDTF">2026-10-04T23:18:38Z</dcterms:modified>
</cp:coreProperties>
</file>