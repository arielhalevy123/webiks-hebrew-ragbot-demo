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שיפור האחזור" id="{5bd61881-9cd6-8ccf-d55b-a953db4a1756}">
          <p14:sldIdLst>
            <p14:sldId id="256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3D5A80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3D5A80"/>
                </a:solidFill>
                <a:latin typeface="+mn-lt"/>
              </a:rPr>
              <a:t>296 שאלות סט האימות של קוד האימון (seed 42), מאגר מלא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המערכת הקיימת</c:v>
                </c:pt>
              </c:strCache>
            </c:strRef>
          </c:tx>
          <c:spPr>
            <a:solidFill>
              <a:srgbClr val="A9B4C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hit@1</c:v>
                  </c:pt>
                  <c:pt idx="1">
                    <c:v>hit@3</c:v>
                  </c:pt>
                  <c:pt idx="2">
                    <c:v>hit@10</c:v>
                  </c:pt>
                  <c:pt idx="3">
                    <c:v>MRR@10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36.8</c:v>
                </c:pt>
                <c:pt idx="1">
                  <c:v>58.1</c:v>
                </c:pt>
                <c:pt idx="2">
                  <c:v>76</c:v>
                </c:pt>
                <c:pt idx="3">
                  <c:v>49.6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וקטורים מודעי-כותרת</c:v>
                </c:pt>
              </c:strCache>
            </c:strRef>
          </c:tx>
          <c:spPr>
            <a:solidFill>
              <a:srgbClr val="E07A3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4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hit@1</c:v>
                  </c:pt>
                  <c:pt idx="1">
                    <c:v>hit@3</c:v>
                  </c:pt>
                  <c:pt idx="2">
                    <c:v>hit@10</c:v>
                  </c:pt>
                  <c:pt idx="3">
                    <c:v>MRR@10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52.7</c:v>
                </c:pt>
                <c:pt idx="1">
                  <c:v>70.9</c:v>
                </c:pt>
                <c:pt idx="2">
                  <c:v>84.8</c:v>
                </c:pt>
                <c:pt idx="3">
                  <c:v>63.6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A4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4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l"/>
        <c:majorGridlines>
          <c:spPr>
            <a:ln w="6350" cap="flat">
              <a:solidFill>
                <a:srgbClr val="EEF3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5A8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המצב הקיים נמדד על המאגר המלא, 296 שאלות סט האימות שקוד האימון של Webiks מפריש (10%, seed 42); האם המודל שפורסם ראה אותן לא ידוע, הבריף אומר שהקובץ כולו שימש לאימון. קריאת הכשלים קדמה לבחירת כיוון.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אינטגרציה: document.py קורא את שני המפתחות (ברירות המחדל שומרות על ההתנהגות המקורית), engine.py בונה את הווקטור השמור בזמן הטעינה. 8 בדיקות. נתיב הספרייה אומת כזהה-וקטורית לווקטורים השמורים שמהם באו המספרים.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הסתייגות שמופיעה בכתב ההגשה: החלוקה ל-held-out דומה לזו של Webiks אך עדיין אופטימית (השאלות מופיעות ב-CSV של האימון). הטענה היא ההפרש בין המצב הקיים לשינוי על קלט זהה.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3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he-IL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2600" b="1" dirty="0">
                <a:solidFill>
                  <a:schemeClr val="tx1"/>
                </a:solidFill>
              </a:defRPr>
            </a:lvl1pPr>
          </a:lstStyle>
          <a:p>
            <a:pPr algn="r" indent="0" marL="0">
              <a:buNone/>
            </a:pPr>
            <a:endParaRPr lang="he-IL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SM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he-IL" altLang="en-US" sz="2200" b="1" dirty="0">
                <a:solidFill>
                  <a:schemeClr val="tx1"/>
                </a:solidFill>
              </a:defRPr>
            </a:lvl1pPr>
          </a:lstStyle>
          <a:p>
            <a:pPr algn="r" indent="0" marL="0">
              <a:buNone/>
            </a:pPr>
            <a:endParaRPr lang="he-IL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chemeClr val="bg1"/>
                </a:solidFill>
              </a:rPr>
              <a:t>כותרת העמוד שמנוע האחזור מעולם לא ראה</a:t>
            </a:r>
            <a:endParaRPr lang="he-IL" sz="30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2344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chemeClr val="accent3"/>
                </a:solidFill>
              </a:rPr>
              <a:t>RAG בעברית על כל-זכות · שלב האחזור בלבד · 24,487 פסקאות, 7,007 עמודים</a:t>
            </a:r>
            <a:endParaRPr lang="he-IL" sz="1300" dirty="0"/>
          </a:p>
        </p:txBody>
      </p:sp>
      <p:sp>
        <p:nvSpPr>
          <p:cNvPr id="4" name="stat card"/>
          <p:cNvSpPr/>
          <p:nvPr/>
        </p:nvSpPr>
        <p:spPr>
          <a:xfrm>
            <a:off x="5486400" y="1783080"/>
            <a:ext cx="3108960" cy="2834640"/>
          </a:xfrm>
          <a:prstGeom prst="roundRect">
            <a:avLst>
              <a:gd name="adj" fmla="val 38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tat"/>
          <p:cNvSpPr txBox="1"/>
          <p:nvPr/>
        </p:nvSpPr>
        <p:spPr>
          <a:xfrm>
            <a:off x="5623560" y="1874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6400" b="1" dirty="0">
                <a:solidFill>
                  <a:schemeClr val="accent1"/>
                </a:solidFill>
              </a:rPr>
              <a:t>42%</a:t>
            </a:r>
            <a:endParaRPr lang="he-IL" sz="6400" dirty="0"/>
          </a:p>
        </p:txBody>
      </p:sp>
      <p:sp>
        <p:nvSpPr>
          <p:cNvPr id="6" name="stat label"/>
          <p:cNvSpPr txBox="1"/>
          <p:nvPr/>
        </p:nvSpPr>
        <p:spPr>
          <a:xfrm>
            <a:off x="5623560" y="297180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chemeClr val="bg1"/>
                </a:solidFill>
              </a:rPr>
              <a:t>מהשאלות שולחות ל-LLM שלושה עמודים שהעמוד הנכון אינו ביניהם (מצב קיים: hit@3 = 0.58; hit@1 = 0.37)</a:t>
            </a:r>
            <a:endParaRPr lang="he-IL" sz="1300" dirty="0"/>
          </a:p>
        </p:txBody>
      </p:sp>
      <p:sp>
        <p:nvSpPr>
          <p:cNvPr id="7" name="num bg 1"/>
          <p:cNvSpPr/>
          <p:nvPr/>
        </p:nvSpPr>
        <p:spPr>
          <a:xfrm>
            <a:off x="4782312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um 1"/>
          <p:cNvSpPr txBox="1"/>
          <p:nvPr/>
        </p:nvSpPr>
        <p:spPr>
          <a:xfrm>
            <a:off x="478231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finding 1"/>
          <p:cNvSpPr txBox="1"/>
          <p:nvPr/>
        </p:nvSpPr>
        <p:spPr>
          <a:xfrm>
            <a:off x="548640" y="178308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bg1"/>
                </a:solidFill>
              </a:rPr>
              <a:t>מנוע האחזור מטמיע את גוף הפסקה בלבד.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150" dirty="0">
                <a:solidFill>
                  <a:schemeClr val="accent3"/>
                </a:solidFill>
              </a:rPr>
              <a:t>כותרת העמוד שמורה לידו, אך לעולם אינה מגיעה למודל.</a:t>
            </a:r>
            <a:endParaRPr lang="he-IL" sz="1400" dirty="0"/>
          </a:p>
        </p:txBody>
      </p:sp>
      <p:sp>
        <p:nvSpPr>
          <p:cNvPr id="10" name="num bg 2"/>
          <p:cNvSpPr/>
          <p:nvPr/>
        </p:nvSpPr>
        <p:spPr>
          <a:xfrm>
            <a:off x="4782312" y="27889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um 2"/>
          <p:cNvSpPr txBox="1"/>
          <p:nvPr/>
        </p:nvSpPr>
        <p:spPr>
          <a:xfrm>
            <a:off x="4782312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finding 2"/>
          <p:cNvSpPr txBox="1"/>
          <p:nvPr/>
        </p:nvSpPr>
        <p:spPr>
          <a:xfrm>
            <a:off x="548640" y="274320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bg1"/>
                </a:solidFill>
              </a:rPr>
              <a:t>63 מתוך 187 ההחמצות הן במקום 2–3, רובן עמודים אחים.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150" dirty="0">
                <a:solidFill>
                  <a:schemeClr val="accent3"/>
                </a:solidFill>
              </a:rPr>
              <a:t>הנחה בארנונה לנכים מול לנכי עבודה · דרכון זמני מול ביומטרי · עמוד מול התאום שלו מתקופת המלחמה</a:t>
            </a:r>
            <a:endParaRPr lang="he-IL" sz="1400" dirty="0"/>
          </a:p>
        </p:txBody>
      </p:sp>
      <p:sp>
        <p:nvSpPr>
          <p:cNvPr id="13" name="num bg 3"/>
          <p:cNvSpPr/>
          <p:nvPr/>
        </p:nvSpPr>
        <p:spPr>
          <a:xfrm>
            <a:off x="4782312" y="37490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num 3"/>
          <p:cNvSpPr txBox="1"/>
          <p:nvPr/>
        </p:nvSpPr>
        <p:spPr>
          <a:xfrm>
            <a:off x="4782312" y="3749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finding 3"/>
          <p:cNvSpPr txBox="1"/>
          <p:nvPr/>
        </p:nvSpPr>
        <p:spPr>
          <a:xfrm>
            <a:off x="548640" y="3703320"/>
            <a:ext cx="4069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bg1"/>
                </a:solidFill>
              </a:rPr>
              <a:t>64% מהפסקאות כבר נפתחות בכותרת הסעיף שלהן.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150" dirty="0">
                <a:solidFill>
                  <a:schemeClr val="accent3"/>
                </a:solidFill>
              </a:rPr>
              <a:t>כלומר הסעיף כבר נמצא בווקטור; העמוד הוא החלק החסר.</a:t>
            </a:r>
            <a:endParaRPr lang="he-IL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chemeClr val="tx1"/>
                </a:solidFill>
              </a:rPr>
              <a:t>שני מפתחות קונפיגורציה מכניסים את כותרת העמוד לווקטור</a:t>
            </a:r>
            <a:endParaRPr lang="he-IL" sz="2600" dirty="0"/>
          </a:p>
        </p:txBody>
      </p:sp>
      <p:sp>
        <p:nvSpPr>
          <p:cNvPr id="3" name="step1 card"/>
          <p:cNvSpPr/>
          <p:nvPr/>
        </p:nvSpPr>
        <p:spPr>
          <a:xfrm>
            <a:off x="4663440" y="1234440"/>
            <a:ext cx="3931920" cy="150876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1"/>
          <p:cNvSpPr txBox="1"/>
          <p:nvPr/>
        </p:nvSpPr>
        <p:spPr>
          <a:xfrm>
            <a:off x="4846320" y="1325880"/>
            <a:ext cx="3611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tx1"/>
                </a:solidFill>
              </a:rPr>
              <a:t>1  embed_context_fields: ["title"]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200" dirty="0">
                <a:solidFill>
                  <a:schemeClr val="tx2"/>
                </a:solidFill>
              </a:rPr>
              <a:t>הטקסט שמוטמע בזמן האינדוקס הופך ל: כותרת העמוד, מעבר שורה, ואז הפסקה.</a:t>
            </a:r>
            <a:endParaRPr lang="he-IL" sz="1400" dirty="0"/>
          </a:p>
        </p:txBody>
      </p:sp>
      <p:sp>
        <p:nvSpPr>
          <p:cNvPr id="5" name="step2 card"/>
          <p:cNvSpPr/>
          <p:nvPr/>
        </p:nvSpPr>
        <p:spPr>
          <a:xfrm>
            <a:off x="4663440" y="2880360"/>
            <a:ext cx="3931920" cy="1783080"/>
          </a:xfrm>
          <a:prstGeom prst="roundRect">
            <a:avLst>
              <a:gd name="adj" fmla="val 51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tep2"/>
          <p:cNvSpPr txBox="1"/>
          <p:nvPr/>
        </p:nvSpPr>
        <p:spPr>
          <a:xfrm>
            <a:off x="4846320" y="297180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400" b="1" dirty="0">
                <a:solidFill>
                  <a:schemeClr val="tx1"/>
                </a:solidFill>
              </a:rPr>
              <a:t>2  embed_title_weight: 0.3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200" dirty="0">
                <a:solidFill>
                  <a:schemeClr val="tx2"/>
                </a:solidFill>
              </a:rPr>
              <a:t>הכותרת מוטמעת בנפרד ומשולבת לתוך הווקטור השמור: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200" b="1" dirty="0">
                <a:solidFill>
                  <a:schemeClr val="accent1"/>
                </a:solidFill>
              </a:rPr>
              <a:t>normalise(0.3·unit(title) + 0.7·unit(text))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tx2"/>
                </a:solidFill>
              </a:rPr>
              <a:t>הקוסינוס ליניארי בשאילתה, ולכן וקטור שמור אחד שווה ל: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tx2"/>
                </a:solidFill>
              </a:rPr>
              <a:t>‪0.3·cos(q,title) + 0.7·cos(q,text)‬</a:t>
            </a:r>
            <a:endParaRPr lang="he-IL" sz="14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tx2"/>
                </a:solidFill>
              </a:rPr>
              <a:t>אותו מודל, אותו מבנה אינדקס, אותו API חיפוש.</a:t>
            </a:r>
            <a:endParaRPr lang="he-IL" sz="1400" dirty="0"/>
          </a:p>
        </p:txBody>
      </p:sp>
      <p:sp>
        <p:nvSpPr>
          <p:cNvPr id="7" name="p bg 1"/>
          <p:cNvSpPr/>
          <p:nvPr/>
        </p:nvSpPr>
        <p:spPr>
          <a:xfrm>
            <a:off x="3986784" y="12618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p num 1"/>
          <p:cNvSpPr txBox="1"/>
          <p:nvPr/>
        </p:nvSpPr>
        <p:spPr>
          <a:xfrm>
            <a:off x="3986784" y="1261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p 1"/>
          <p:cNvSpPr txBox="1"/>
          <p:nvPr/>
        </p:nvSpPr>
        <p:spPr>
          <a:xfrm>
            <a:off x="548640" y="1216152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b="1" dirty="0">
                <a:solidFill>
                  <a:schemeClr val="tx1"/>
                </a:solidFill>
              </a:rPr>
              <a:t>למדוד קודם</a:t>
            </a:r>
            <a:endParaRPr lang="he-IL" sz="1250" dirty="0"/>
          </a:p>
          <a:p>
            <a:pPr rtl="1" algn="r" indent="0" marL="0">
              <a:buNone/>
            </a:pPr>
            <a:r>
              <a:rPr lang="he-IL" altLang="en-US" sz="1050" dirty="0">
                <a:solidFill>
                  <a:schemeClr val="tx2"/>
                </a:solidFill>
              </a:rPr>
              <a:t>מערכת מדידה על וקטורים שמורים, זהה למעריך של Webiks עד 4 ספרות; 3 שניות לכל וריאנט.</a:t>
            </a:r>
            <a:endParaRPr lang="he-IL" sz="1250" dirty="0"/>
          </a:p>
        </p:txBody>
      </p:sp>
      <p:sp>
        <p:nvSpPr>
          <p:cNvPr id="10" name="p bg 2"/>
          <p:cNvSpPr/>
          <p:nvPr/>
        </p:nvSpPr>
        <p:spPr>
          <a:xfrm>
            <a:off x="3986784" y="195681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p num 2"/>
          <p:cNvSpPr txBox="1"/>
          <p:nvPr/>
        </p:nvSpPr>
        <p:spPr>
          <a:xfrm>
            <a:off x="3986784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12" name="p 2"/>
          <p:cNvSpPr txBox="1"/>
          <p:nvPr/>
        </p:nvSpPr>
        <p:spPr>
          <a:xfrm>
            <a:off x="548640" y="1911096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b="1" dirty="0">
                <a:solidFill>
                  <a:schemeClr val="tx1"/>
                </a:solidFill>
              </a:rPr>
              <a:t>לקרוא את השגיאות</a:t>
            </a:r>
            <a:endParaRPr lang="he-IL" sz="1250" dirty="0"/>
          </a:p>
          <a:p>
            <a:pPr rtl="1" algn="r" indent="0" marL="0">
              <a:buNone/>
            </a:pPr>
            <a:r>
              <a:rPr lang="he-IL" altLang="en-US" sz="1050" dirty="0">
                <a:solidFill>
                  <a:schemeClr val="tx2"/>
                </a:solidFill>
              </a:rPr>
              <a:t>בלבולים בין עמודים אחים ← הכותרת היא המקום שבו יושב ההבדל.</a:t>
            </a:r>
            <a:endParaRPr lang="he-IL" sz="1250" dirty="0"/>
          </a:p>
        </p:txBody>
      </p:sp>
      <p:sp>
        <p:nvSpPr>
          <p:cNvPr id="13" name="p bg 3"/>
          <p:cNvSpPr/>
          <p:nvPr/>
        </p:nvSpPr>
        <p:spPr>
          <a:xfrm>
            <a:off x="3986784" y="265176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p num 3"/>
          <p:cNvSpPr txBox="1"/>
          <p:nvPr/>
        </p:nvSpPr>
        <p:spPr>
          <a:xfrm>
            <a:off x="3986784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15" name="p 3"/>
          <p:cNvSpPr txBox="1"/>
          <p:nvPr/>
        </p:nvSpPr>
        <p:spPr>
          <a:xfrm>
            <a:off x="548640" y="26060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b="1" dirty="0">
                <a:solidFill>
                  <a:schemeClr val="tx1"/>
                </a:solidFill>
              </a:rPr>
              <a:t>לנבא, ואז לבדוק</a:t>
            </a:r>
            <a:endParaRPr lang="he-IL" sz="1250" dirty="0"/>
          </a:p>
          <a:p>
            <a:pPr rtl="1" algn="r" indent="0" marL="0">
              <a:buNone/>
            </a:pPr>
            <a:r>
              <a:rPr lang="he-IL" altLang="en-US" sz="1050" dirty="0">
                <a:solidFill>
                  <a:schemeClr val="tx2"/>
                </a:solidFill>
              </a:rPr>
              <a:t>נכתב לפני ההרצה; צדק בחצי (גם החמצות עמוקות זזו). נשמר כפי שנכתב.</a:t>
            </a:r>
            <a:endParaRPr lang="he-IL" sz="1250" dirty="0"/>
          </a:p>
        </p:txBody>
      </p:sp>
      <p:sp>
        <p:nvSpPr>
          <p:cNvPr id="16" name="p bg 4"/>
          <p:cNvSpPr/>
          <p:nvPr/>
        </p:nvSpPr>
        <p:spPr>
          <a:xfrm>
            <a:off x="3986784" y="33467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p num 4"/>
          <p:cNvSpPr txBox="1"/>
          <p:nvPr/>
        </p:nvSpPr>
        <p:spPr>
          <a:xfrm>
            <a:off x="3986784" y="3346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18" name="p 4"/>
          <p:cNvSpPr txBox="1"/>
          <p:nvPr/>
        </p:nvSpPr>
        <p:spPr>
          <a:xfrm>
            <a:off x="548640" y="3300984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b="1" dirty="0">
                <a:solidFill>
                  <a:schemeClr val="tx1"/>
                </a:solidFill>
              </a:rPr>
              <a:t>לבחור משקל ביושר</a:t>
            </a:r>
            <a:endParaRPr lang="he-IL" sz="1250" dirty="0"/>
          </a:p>
          <a:p>
            <a:pPr rtl="1" algn="r" indent="0" marL="0">
              <a:buNone/>
            </a:pPr>
            <a:r>
              <a:rPr lang="he-IL" altLang="en-US" sz="1050" dirty="0">
                <a:solidFill>
                  <a:schemeClr val="tx2"/>
                </a:solidFill>
              </a:rPr>
              <a:t>נסרק על חצי מהשאלות ודווח על החצי השני, בשני הכיוונים; רמה יציבה ב-0.2–0.4.</a:t>
            </a:r>
            <a:endParaRPr lang="he-IL" sz="1250" dirty="0"/>
          </a:p>
        </p:txBody>
      </p:sp>
      <p:sp>
        <p:nvSpPr>
          <p:cNvPr id="19" name="p bg 5"/>
          <p:cNvSpPr/>
          <p:nvPr/>
        </p:nvSpPr>
        <p:spPr>
          <a:xfrm>
            <a:off x="3986784" y="404164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p num 5"/>
          <p:cNvSpPr txBox="1"/>
          <p:nvPr/>
        </p:nvSpPr>
        <p:spPr>
          <a:xfrm>
            <a:off x="3986784" y="40416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21" name="p 5"/>
          <p:cNvSpPr txBox="1"/>
          <p:nvPr/>
        </p:nvSpPr>
        <p:spPr>
          <a:xfrm>
            <a:off x="548640" y="3995928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250" b="1" dirty="0">
                <a:solidFill>
                  <a:schemeClr val="tx1"/>
                </a:solidFill>
              </a:rPr>
              <a:t>לדחות על סמך ראיות</a:t>
            </a:r>
            <a:endParaRPr lang="he-IL" sz="1250" dirty="0"/>
          </a:p>
          <a:p>
            <a:pPr rtl="1" algn="r" indent="0" marL="0">
              <a:buNone/>
            </a:pPr>
            <a:r>
              <a:rPr lang="he-IL" altLang="en-US" sz="1050" dirty="0">
                <a:solidFill>
                  <a:schemeClr val="tx2"/>
                </a:solidFill>
              </a:rPr>
              <a:t>חלוקה לקטעים, הקשר שנכתב ב-LLM, סינון טקסט גנרי, מאגר מועמדים רחב יותר: הכול נמדד, דבר לא הוכנס.</a:t>
            </a:r>
            <a:endParaRPr lang="he-IL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chemeClr val="tx1"/>
                </a:solidFill>
              </a:rPr>
              <a:t>מקום 1: מ-37% ל-53%  ·  שלושת הראשונים ל-LLM: מ-58% ל-71%</a:t>
            </a:r>
            <a:endParaRPr lang="he-IL" sz="2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840480" y="1188720"/>
          <a:ext cx="48463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perq"/>
          <p:cNvSpPr txBox="1"/>
          <p:nvPr/>
        </p:nvSpPr>
        <p:spPr>
          <a:xfrm>
            <a:off x="548640" y="118872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chemeClr val="tx1"/>
                </a:solidFill>
              </a:rPr>
              <a:t>ברמת השאלה</a:t>
            </a:r>
            <a:endParaRPr lang="he-IL" sz="13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tx2"/>
                </a:solidFill>
              </a:rPr>
              <a:t>138 השתפרו · 35 נפגעו · 123 ללא שינוי. רוב הנסיגות הן תזוזה של מקום אחד בין עמודים אחים.</a:t>
            </a:r>
            <a:endParaRPr lang="he-IL" sz="1300" dirty="0"/>
          </a:p>
        </p:txBody>
      </p:sp>
      <p:sp>
        <p:nvSpPr>
          <p:cNvPr id="5" name="rejected"/>
          <p:cNvSpPr txBox="1"/>
          <p:nvPr/>
        </p:nvSpPr>
        <p:spPr>
          <a:xfrm>
            <a:off x="548640" y="214884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"/>
              </a:spcAft>
              <a:buNone/>
            </a:pPr>
            <a:r>
              <a:rPr lang="he-IL" altLang="en-US" sz="1300" b="1" dirty="0">
                <a:solidFill>
                  <a:schemeClr val="tx1"/>
                </a:solidFill>
              </a:rPr>
              <a:t>נבדק, לא הוכנס</a:t>
            </a:r>
            <a:endParaRPr lang="he-IL" sz="1300" dirty="0"/>
          </a:p>
          <a:p>
            <a:pPr rtl="1" algn="r" marL="342900" indent="-342900">
              <a:spcAft>
                <a:spcPts val="200"/>
              </a:spcAft>
              <a:buSzPct val="100000"/>
              <a:buChar char="•"/>
            </a:pPr>
            <a:r>
              <a:rPr lang="he-IL" altLang="en-US" sz="1100" dirty="0">
                <a:solidFill>
                  <a:schemeClr val="tx2"/>
                </a:solidFill>
              </a:rPr>
              <a:t>קטעים של 256 טוקנים: גרוע לבד; עם הכותרת מחליף מקום 1 בשלושת הראשונים</a:t>
            </a:r>
            <a:endParaRPr lang="he-IL" sz="1300" dirty="0"/>
          </a:p>
          <a:p>
            <a:pPr rtl="1" algn="r" marL="342900" indent="-342900">
              <a:spcAft>
                <a:spcPts val="200"/>
              </a:spcAft>
              <a:buSzPct val="100000"/>
              <a:buChar char="•"/>
            </a:pPr>
            <a:r>
              <a:rPr lang="he-IL" altLang="en-US" sz="1100" dirty="0">
                <a:solidFill>
                  <a:schemeClr val="tx2"/>
                </a:solidFill>
              </a:rPr>
              <a:t>הקשר שנכתב ב-LLM לכל פסקה ($3.34): כל המדדים ירדו</a:t>
            </a:r>
            <a:endParaRPr lang="he-IL" sz="1300" dirty="0"/>
          </a:p>
          <a:p>
            <a:pPr rtl="1" algn="r" marL="342900" indent="-342900">
              <a:spcAft>
                <a:spcPts val="200"/>
              </a:spcAft>
              <a:buSzPct val="100000"/>
              <a:buChar char="•"/>
            </a:pPr>
            <a:r>
              <a:rPr lang="he-IL" altLang="en-US" sz="1100" dirty="0">
                <a:solidFill>
                  <a:schemeClr val="tx2"/>
                </a:solidFill>
              </a:rPr>
              <a:t>סינון טקסט גנרי, מאגר מועמדים רחב יותר: ללא השפעה</a:t>
            </a:r>
            <a:endParaRPr lang="he-IL" sz="1300" dirty="0"/>
          </a:p>
        </p:txBody>
      </p:sp>
      <p:sp>
        <p:nvSpPr>
          <p:cNvPr id="6" name="next"/>
          <p:cNvSpPr txBox="1"/>
          <p:nvPr/>
        </p:nvSpPr>
        <p:spPr>
          <a:xfrm>
            <a:off x="548640" y="36118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he-IL" altLang="en-US" sz="1300" b="1" dirty="0">
                <a:solidFill>
                  <a:schemeClr val="tx1"/>
                </a:solidFill>
              </a:rPr>
              <a:t>הצעד הבא</a:t>
            </a:r>
            <a:endParaRPr lang="he-IL" sz="1300" dirty="0"/>
          </a:p>
          <a:p>
            <a:pPr rtl="1" algn="r" indent="0" marL="0">
              <a:buNone/>
            </a:pPr>
            <a:r>
              <a:rPr lang="he-IL" altLang="en-US" sz="1100" dirty="0">
                <a:solidFill>
                  <a:schemeClr val="tx2"/>
                </a:solidFill>
              </a:rPr>
              <a:t>אחזור קטן-לגדול (התאמה על קטעים, החזרת הפסקה) · סט בדיקה נקי שנכתב בידי אדם · reranker כשלב שני נמדד</a:t>
            </a:r>
            <a:endParaRPr lang="he-IL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lZchutRetrieval">
  <a:themeElements>
    <a:clrScheme name="KolZchutRetrieval">
      <a:dk1>
        <a:srgbClr val="1B2A41"/>
      </a:dk1>
      <a:lt1>
        <a:srgbClr val="FFFFFF"/>
      </a:lt1>
      <a:dk2>
        <a:srgbClr val="3D5A80"/>
      </a:dk2>
      <a:lt2>
        <a:srgbClr val="EEF3F8"/>
      </a:lt2>
      <a:accent1>
        <a:srgbClr val="E07A3F"/>
      </a:accent1>
      <a:accent2>
        <a:srgbClr val="3D5A80"/>
      </a:accent2>
      <a:accent3>
        <a:srgbClr val="7FA8C9"/>
      </a:accent3>
      <a:accent4>
        <a:srgbClr val="A9B4C2"/>
      </a:accent4>
      <a:accent5>
        <a:srgbClr val="C8553D"/>
      </a:accent5>
      <a:accent6>
        <a:srgbClr val="98C1D9"/>
      </a:accent6>
      <a:hlink>
        <a:srgbClr val="3D5A80"/>
      </a:hlink>
      <a:folHlink>
        <a:srgbClr val="7FA8C9"/>
      </a:folHlink>
    </a:clrScheme>
    <a:fontScheme name="KolZchutRetriev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אחזור ב-RAG עברי: וקטורי פסקה מודעי-כותרת</dc:title>
  <dc:subject>PptxGenJS Presentation</dc:subject>
  <dc:creator>Ariel Halevy</dc:creator>
  <cp:lastModifiedBy>Ariel Halevy</cp:lastModifiedBy>
  <cp:revision>1</cp:revision>
  <dcterms:created xsi:type="dcterms:W3CDTF">2026-10-04T21:47:21Z</dcterms:created>
  <dcterms:modified xsi:type="dcterms:W3CDTF">2026-10-04T21:47:21Z</dcterms:modified>
</cp:coreProperties>
</file>