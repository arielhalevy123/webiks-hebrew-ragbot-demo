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שיפור האחזור" id="{a4cdccc2-b4bf-a706-5fee-5ed8061195fc}">
          <p14:sldIdLst>
            <p14:sldId id="256"/>
            <p14:sldId id="257"/>
            <p14:sldId id="258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3D5A80"/>
                </a:solidFill>
                <a:latin typeface="+mn-lt"/>
              </a:defRPr>
            </a:pPr>
            <a:r>
              <a:rPr sz="1100" b="0" i="0" u="none" strike="noStrike">
                <a:solidFill>
                  <a:srgbClr val="3D5A80"/>
                </a:solidFill>
                <a:latin typeface="+mn-lt"/>
              </a:rPr>
              <a:t>296 שאלות שלא נראו באימון, מאגר מלא (%)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המערכת הקיימת</c:v>
                </c:pt>
              </c:strCache>
            </c:strRef>
          </c:tx>
          <c:spPr>
            <a:solidFill>
              <a:srgbClr val="A9B4C2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B2A41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hit@1</c:v>
                  </c:pt>
                  <c:pt idx="1">
                    <c:v>hit@3</c:v>
                  </c:pt>
                  <c:pt idx="2">
                    <c:v>hit@10</c:v>
                  </c:pt>
                  <c:pt idx="3">
                    <c:v>MRR@10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36.8</c:v>
                </c:pt>
                <c:pt idx="1">
                  <c:v>58.1</c:v>
                </c:pt>
                <c:pt idx="2">
                  <c:v>76</c:v>
                </c:pt>
                <c:pt idx="3">
                  <c:v>49.6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וקטורים מודעי-כותרת</c:v>
                </c:pt>
              </c:strCache>
            </c:strRef>
          </c:tx>
          <c:spPr>
            <a:solidFill>
              <a:srgbClr val="E07A3F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B2A41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hit@1</c:v>
                  </c:pt>
                  <c:pt idx="1">
                    <c:v>hit@3</c:v>
                  </c:pt>
                  <c:pt idx="2">
                    <c:v>hit@10</c:v>
                  </c:pt>
                  <c:pt idx="3">
                    <c:v>MRR@10</c:v>
                  </c:pt>
                </c:lvl>
              </c:multiLvlStrCache>
            </c:multiLvl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52.7</c:v>
                </c:pt>
                <c:pt idx="1">
                  <c:v>70.9</c:v>
                </c:pt>
                <c:pt idx="2">
                  <c:v>84.8</c:v>
                </c:pt>
                <c:pt idx="3">
                  <c:v>63.6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b="0" i="0" strike="noStrike" sz="1000" u="none">
                  <a:solidFill>
                    <a:srgbClr val="1B2A41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B2A41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0"/>
          <c:min val="0"/>
        </c:scaling>
        <c:delete val="1"/>
        <c:axPos val="l"/>
        <c:majorGridlines>
          <c:spPr>
            <a:ln w="6350" cap="flat">
              <a:solidFill>
                <a:srgbClr val="EEF3F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
              <a:solidFill>
                <a:srgbClr val="3D5A80"/>
              </a:solidFill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המצב הקיים נמדד על המאגר המלא, 296 שאלות שלא נראו באימון (החלוקה של קוד האימון עצמו, seed 42). קריאת הכשלים קדמה לבחירת כיוון.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אינטגרציה: document.py קורא את שני המפתחות (ברירות המחדל שומרות על ההתנהגות המקורית), engine.py בונה את הווקטור השמור בזמן הטעינה. 8 בדיקות. נתיב הספרייה אומת כזהה-וקטורית לווקטורים השמורים שמהם באו המספרים.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הסתייגות שמופיעה בכתב ההגשה: החלוקה ל-held-out דומה לזו של Webiks אך עדיין אופטימית (השאלות מופיעות ב-CSV של האימון). הטענה היא ההפרש בין המצב הקיים לשינוי על קלט זהה.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chemeClr val="tx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411480"/>
            <a:ext cx="8046720" cy="914400"/>
          </a:xfrm>
          <a:prstGeom prst="rect">
            <a:avLst/>
          </a:prstGeom>
          <a:noFill/>
          <a:ln/>
        </p:spPr>
        <p:txBody>
          <a:bodyPr wrap="square" rtlCol="0"/>
          <a:lstStyle>
            <a:lvl1pPr rtl="1" algn="r" indent="0" marL="0">
              <a:buNone/>
              <a:defRPr lang="he-IL" altLang="en-US" sz="3000" b="1" dirty="0">
                <a:solidFill>
                  <a:schemeClr val="bg1"/>
                </a:solidFill>
              </a:defRPr>
            </a:lvl1pPr>
          </a:lstStyle>
          <a:p>
            <a:pPr algn="r" indent="0" marL="0">
              <a:buNone/>
            </a:pPr>
            <a:endParaRPr lang="he-IL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828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4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IGHT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8046720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rtl="1" algn="r" indent="0" marL="0">
              <a:buNone/>
              <a:defRPr lang="he-IL" altLang="en-US" sz="2600" b="1" dirty="0">
                <a:solidFill>
                  <a:schemeClr val="tx1"/>
                </a:solidFill>
              </a:defRPr>
            </a:lvl1pPr>
          </a:lstStyle>
          <a:p>
            <a:pPr algn="r" indent="0" marL="0">
              <a:buNone/>
            </a:pPr>
            <a:endParaRPr lang="he-IL" sz="2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828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4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IGHT_SMALL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8046720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rtl="1" algn="r" indent="0" marL="0">
              <a:buNone/>
              <a:defRPr lang="he-IL" altLang="en-US" sz="2200" b="1" dirty="0">
                <a:solidFill>
                  <a:schemeClr val="tx1"/>
                </a:solidFill>
              </a:defRPr>
            </a:lvl1pPr>
          </a:lstStyle>
          <a:p>
            <a:pPr algn="r" indent="0" marL="0">
              <a:buNone/>
            </a:pPr>
            <a:endParaRPr lang="he-IL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828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4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828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4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411480"/>
            <a:ext cx="8046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he-IL" altLang="en-US" sz="3000" b="1" dirty="0">
                <a:solidFill>
                  <a:schemeClr val="bg1"/>
                </a:solidFill>
              </a:rPr>
              <a:t>כותרת העמוד שמנוע האחזור מעולם לא ראה</a:t>
            </a:r>
            <a:endParaRPr lang="he-IL" sz="3000" dirty="0"/>
          </a:p>
        </p:txBody>
      </p:sp>
      <p:sp>
        <p:nvSpPr>
          <p:cNvPr id="3" name="subtitle"/>
          <p:cNvSpPr txBox="1"/>
          <p:nvPr/>
        </p:nvSpPr>
        <p:spPr>
          <a:xfrm>
            <a:off x="548640" y="123444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he-IL" altLang="en-US" sz="1300" dirty="0">
                <a:solidFill>
                  <a:schemeClr val="accent3"/>
                </a:solidFill>
              </a:rPr>
              <a:t>RAG בעברית על כל-זכות · שלב האחזור בלבד · 24,487 פסקאות, 7,007 עמודים</a:t>
            </a:r>
            <a:endParaRPr lang="he-IL" sz="1300" dirty="0"/>
          </a:p>
        </p:txBody>
      </p:sp>
      <p:sp>
        <p:nvSpPr>
          <p:cNvPr id="4" name="stat card"/>
          <p:cNvSpPr/>
          <p:nvPr/>
        </p:nvSpPr>
        <p:spPr>
          <a:xfrm>
            <a:off x="5486400" y="1783080"/>
            <a:ext cx="3108960" cy="2834640"/>
          </a:xfrm>
          <a:prstGeom prst="roundRect">
            <a:avLst>
              <a:gd name="adj" fmla="val 3871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5" name="stat"/>
          <p:cNvSpPr txBox="1"/>
          <p:nvPr/>
        </p:nvSpPr>
        <p:spPr>
          <a:xfrm>
            <a:off x="5623560" y="1874520"/>
            <a:ext cx="28346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he-IL" altLang="en-US" sz="6400" b="1" dirty="0">
                <a:solidFill>
                  <a:schemeClr val="accent1"/>
                </a:solidFill>
              </a:rPr>
              <a:t>42%</a:t>
            </a:r>
            <a:endParaRPr lang="he-IL" sz="6400" dirty="0"/>
          </a:p>
        </p:txBody>
      </p:sp>
      <p:sp>
        <p:nvSpPr>
          <p:cNvPr id="6" name="stat label"/>
          <p:cNvSpPr txBox="1"/>
          <p:nvPr/>
        </p:nvSpPr>
        <p:spPr>
          <a:xfrm>
            <a:off x="5623560" y="2971800"/>
            <a:ext cx="28346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he-IL" altLang="en-US" sz="1300" dirty="0">
                <a:solidFill>
                  <a:schemeClr val="bg1"/>
                </a:solidFill>
              </a:rPr>
              <a:t>מהשאלות שולחות ל-LLM שלושה עמודים שהעמוד הנכון אינו ביניהם (מצב קיים: hit@3 = 0.58; hit@1 = 0.37)</a:t>
            </a:r>
            <a:endParaRPr lang="he-IL" sz="1300" dirty="0"/>
          </a:p>
        </p:txBody>
      </p:sp>
      <p:sp>
        <p:nvSpPr>
          <p:cNvPr id="7" name="num bg 1"/>
          <p:cNvSpPr/>
          <p:nvPr/>
        </p:nvSpPr>
        <p:spPr>
          <a:xfrm>
            <a:off x="4782312" y="1828800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8" name="num 1"/>
          <p:cNvSpPr txBox="1"/>
          <p:nvPr/>
        </p:nvSpPr>
        <p:spPr>
          <a:xfrm>
            <a:off x="4782312" y="18288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1</a:t>
            </a:r>
            <a:endParaRPr lang="en-US" sz="1400" dirty="0"/>
          </a:p>
        </p:txBody>
      </p:sp>
      <p:sp>
        <p:nvSpPr>
          <p:cNvPr id="9" name="finding 1"/>
          <p:cNvSpPr txBox="1"/>
          <p:nvPr/>
        </p:nvSpPr>
        <p:spPr>
          <a:xfrm>
            <a:off x="548640" y="1783080"/>
            <a:ext cx="4069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he-IL" altLang="en-US" sz="1400" b="1" dirty="0">
                <a:solidFill>
                  <a:schemeClr val="bg1"/>
                </a:solidFill>
              </a:rPr>
              <a:t>מנוע האחזור מטמיע את גוף הפסקה בלבד.</a:t>
            </a:r>
            <a:endParaRPr lang="he-IL" sz="1400" dirty="0"/>
          </a:p>
          <a:p>
            <a:pPr rtl="1" algn="r" indent="0" marL="0">
              <a:buNone/>
            </a:pPr>
            <a:r>
              <a:rPr lang="he-IL" altLang="en-US" sz="1150" dirty="0">
                <a:solidFill>
                  <a:schemeClr val="accent3"/>
                </a:solidFill>
              </a:rPr>
              <a:t>כותרת העמוד שמורה לידו, אך לעולם אינה מגיעה למודל.</a:t>
            </a:r>
            <a:endParaRPr lang="he-IL" sz="1400" dirty="0"/>
          </a:p>
        </p:txBody>
      </p:sp>
      <p:sp>
        <p:nvSpPr>
          <p:cNvPr id="10" name="num bg 2"/>
          <p:cNvSpPr/>
          <p:nvPr/>
        </p:nvSpPr>
        <p:spPr>
          <a:xfrm>
            <a:off x="4782312" y="2788920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1" name="num 2"/>
          <p:cNvSpPr txBox="1"/>
          <p:nvPr/>
        </p:nvSpPr>
        <p:spPr>
          <a:xfrm>
            <a:off x="4782312" y="27889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2</a:t>
            </a:r>
            <a:endParaRPr lang="en-US" sz="1400" dirty="0"/>
          </a:p>
        </p:txBody>
      </p:sp>
      <p:sp>
        <p:nvSpPr>
          <p:cNvPr id="12" name="finding 2"/>
          <p:cNvSpPr txBox="1"/>
          <p:nvPr/>
        </p:nvSpPr>
        <p:spPr>
          <a:xfrm>
            <a:off x="548640" y="2743200"/>
            <a:ext cx="4069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he-IL" altLang="en-US" sz="1400" b="1" dirty="0">
                <a:solidFill>
                  <a:schemeClr val="bg1"/>
                </a:solidFill>
              </a:rPr>
              <a:t>63 מתוך 187 ההחמצות הן במקום 2–3, רובן עמודים אחים.</a:t>
            </a:r>
            <a:endParaRPr lang="he-IL" sz="1400" dirty="0"/>
          </a:p>
          <a:p>
            <a:pPr rtl="1" algn="r" indent="0" marL="0">
              <a:buNone/>
            </a:pPr>
            <a:r>
              <a:rPr lang="he-IL" altLang="en-US" sz="1150" dirty="0">
                <a:solidFill>
                  <a:schemeClr val="accent3"/>
                </a:solidFill>
              </a:rPr>
              <a:t>הנחה בארנונה לנכים מול לנכי עבודה · דרכון זמני מול ביומטרי · עמוד מול התאום שלו מתקופת המלחמה</a:t>
            </a:r>
            <a:endParaRPr lang="he-IL" sz="1400" dirty="0"/>
          </a:p>
        </p:txBody>
      </p:sp>
      <p:sp>
        <p:nvSpPr>
          <p:cNvPr id="13" name="num bg 3"/>
          <p:cNvSpPr/>
          <p:nvPr/>
        </p:nvSpPr>
        <p:spPr>
          <a:xfrm>
            <a:off x="4782312" y="3749040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4" name="num 3"/>
          <p:cNvSpPr txBox="1"/>
          <p:nvPr/>
        </p:nvSpPr>
        <p:spPr>
          <a:xfrm>
            <a:off x="4782312" y="37490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3</a:t>
            </a:r>
            <a:endParaRPr lang="en-US" sz="1400" dirty="0"/>
          </a:p>
        </p:txBody>
      </p:sp>
      <p:sp>
        <p:nvSpPr>
          <p:cNvPr id="15" name="finding 3"/>
          <p:cNvSpPr txBox="1"/>
          <p:nvPr/>
        </p:nvSpPr>
        <p:spPr>
          <a:xfrm>
            <a:off x="548640" y="3703320"/>
            <a:ext cx="4069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he-IL" altLang="en-US" sz="1400" b="1" dirty="0">
                <a:solidFill>
                  <a:schemeClr val="bg1"/>
                </a:solidFill>
              </a:rPr>
              <a:t>64% מהפסקאות כבר נפתחות בכותרת הסעיף שלהן.</a:t>
            </a:r>
            <a:endParaRPr lang="he-IL" sz="1400" dirty="0"/>
          </a:p>
          <a:p>
            <a:pPr rtl="1" algn="r" indent="0" marL="0">
              <a:buNone/>
            </a:pPr>
            <a:r>
              <a:rPr lang="he-IL" altLang="en-US" sz="1150" dirty="0">
                <a:solidFill>
                  <a:schemeClr val="accent3"/>
                </a:solidFill>
              </a:rPr>
              <a:t>כלומר הסעיף כבר נמצא בווקטור; העמוד הוא החלק החסר.</a:t>
            </a:r>
            <a:endParaRPr lang="he-IL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828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4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he-IL" altLang="en-US" sz="2600" b="1" dirty="0">
                <a:solidFill>
                  <a:schemeClr val="tx1"/>
                </a:solidFill>
              </a:rPr>
              <a:t>שני מפתחות קונפיגורציה מכניסים את כותרת העמוד לווקטור</a:t>
            </a:r>
            <a:endParaRPr lang="he-IL" sz="2600" dirty="0"/>
          </a:p>
        </p:txBody>
      </p:sp>
      <p:sp>
        <p:nvSpPr>
          <p:cNvPr id="3" name="step1 card"/>
          <p:cNvSpPr/>
          <p:nvPr/>
        </p:nvSpPr>
        <p:spPr>
          <a:xfrm>
            <a:off x="4663440" y="1234440"/>
            <a:ext cx="3931920" cy="1508760"/>
          </a:xfrm>
          <a:prstGeom prst="roundRect">
            <a:avLst>
              <a:gd name="adj" fmla="val 606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step1"/>
          <p:cNvSpPr txBox="1"/>
          <p:nvPr/>
        </p:nvSpPr>
        <p:spPr>
          <a:xfrm>
            <a:off x="4846320" y="1325880"/>
            <a:ext cx="361188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he-IL" altLang="en-US" sz="1400" b="1" dirty="0">
                <a:solidFill>
                  <a:schemeClr val="tx1"/>
                </a:solidFill>
              </a:rPr>
              <a:t>1  embed_context_fields: ["title"]</a:t>
            </a:r>
            <a:endParaRPr lang="he-IL" sz="1400" dirty="0"/>
          </a:p>
          <a:p>
            <a:pPr rtl="1" algn="r" indent="0" marL="0">
              <a:buNone/>
            </a:pPr>
            <a:r>
              <a:rPr lang="he-IL" altLang="en-US" sz="1200" dirty="0">
                <a:solidFill>
                  <a:schemeClr val="tx2"/>
                </a:solidFill>
              </a:rPr>
              <a:t>הטקסט שמוטמע בזמן האינדוקס הופך ל: כותרת העמוד, מעבר שורה, ואז הפסקה.</a:t>
            </a:r>
            <a:endParaRPr lang="he-IL" sz="1400" dirty="0"/>
          </a:p>
        </p:txBody>
      </p:sp>
      <p:sp>
        <p:nvSpPr>
          <p:cNvPr id="5" name="step2 card"/>
          <p:cNvSpPr/>
          <p:nvPr/>
        </p:nvSpPr>
        <p:spPr>
          <a:xfrm>
            <a:off x="4663440" y="2880360"/>
            <a:ext cx="3931920" cy="1783080"/>
          </a:xfrm>
          <a:prstGeom prst="roundRect">
            <a:avLst>
              <a:gd name="adj" fmla="val 512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6" name="step2"/>
          <p:cNvSpPr txBox="1"/>
          <p:nvPr/>
        </p:nvSpPr>
        <p:spPr>
          <a:xfrm>
            <a:off x="4846320" y="2971800"/>
            <a:ext cx="36118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he-IL" altLang="en-US" sz="1400" b="1" dirty="0">
                <a:solidFill>
                  <a:schemeClr val="tx1"/>
                </a:solidFill>
              </a:rPr>
              <a:t>2  embed_title_weight: 0.3</a:t>
            </a:r>
            <a:endParaRPr lang="he-IL" sz="1400" dirty="0"/>
          </a:p>
          <a:p>
            <a:pPr rtl="1" algn="r" indent="0" marL="0">
              <a:buNone/>
            </a:pPr>
            <a:r>
              <a:rPr lang="he-IL" altLang="en-US" sz="1200" dirty="0">
                <a:solidFill>
                  <a:schemeClr val="tx2"/>
                </a:solidFill>
              </a:rPr>
              <a:t>הכותרת מוטמעת בנפרד ומשולבת לתוך הווקטור השמור:</a:t>
            </a:r>
            <a:endParaRPr lang="he-IL" sz="1400" dirty="0"/>
          </a:p>
          <a:p>
            <a:pPr rtl="1" algn="r" indent="0" marL="0">
              <a:buNone/>
            </a:pPr>
            <a:r>
              <a:rPr lang="he-IL" altLang="en-US" sz="1200" b="1" dirty="0">
                <a:solidFill>
                  <a:schemeClr val="accent1"/>
                </a:solidFill>
              </a:rPr>
              <a:t>normalise(0.3·unit(title) + 0.7·unit(text))</a:t>
            </a:r>
            <a:endParaRPr lang="he-IL" sz="1400" dirty="0"/>
          </a:p>
          <a:p>
            <a:pPr rtl="1" algn="r" indent="0" marL="0">
              <a:buNone/>
            </a:pPr>
            <a:r>
              <a:rPr lang="he-IL" altLang="en-US" sz="1100" dirty="0">
                <a:solidFill>
                  <a:schemeClr val="tx2"/>
                </a:solidFill>
              </a:rPr>
              <a:t>הקוסינוס ליניארי בשאילתה, ולכן וקטור שמור אחד שווה ל:</a:t>
            </a:r>
            <a:endParaRPr lang="he-IL" sz="1400" dirty="0"/>
          </a:p>
          <a:p>
            <a:pPr rtl="1" algn="r" indent="0" marL="0">
              <a:buNone/>
            </a:pPr>
            <a:r>
              <a:rPr lang="he-IL" altLang="en-US" sz="1100" dirty="0">
                <a:solidFill>
                  <a:schemeClr val="tx2"/>
                </a:solidFill>
              </a:rPr>
              <a:t>‪0.3·cos(q,title) + 0.7·cos(q,text)‬</a:t>
            </a:r>
            <a:endParaRPr lang="he-IL" sz="1400" dirty="0"/>
          </a:p>
          <a:p>
            <a:pPr rtl="1" algn="r" indent="0" marL="0">
              <a:buNone/>
            </a:pPr>
            <a:r>
              <a:rPr lang="he-IL" altLang="en-US" sz="1100" dirty="0">
                <a:solidFill>
                  <a:schemeClr val="tx2"/>
                </a:solidFill>
              </a:rPr>
              <a:t>אותו מודל, אותו מבנה אינדקס, אותו API חיפוש.</a:t>
            </a:r>
            <a:endParaRPr lang="he-IL" sz="1400" dirty="0"/>
          </a:p>
        </p:txBody>
      </p:sp>
      <p:sp>
        <p:nvSpPr>
          <p:cNvPr id="7" name="p bg 1"/>
          <p:cNvSpPr/>
          <p:nvPr/>
        </p:nvSpPr>
        <p:spPr>
          <a:xfrm>
            <a:off x="3986784" y="1261872"/>
            <a:ext cx="310896" cy="310896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8" name="p num 1"/>
          <p:cNvSpPr txBox="1"/>
          <p:nvPr/>
        </p:nvSpPr>
        <p:spPr>
          <a:xfrm>
            <a:off x="3986784" y="126187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1</a:t>
            </a:r>
            <a:endParaRPr lang="en-US" sz="1100" dirty="0"/>
          </a:p>
        </p:txBody>
      </p:sp>
      <p:sp>
        <p:nvSpPr>
          <p:cNvPr id="9" name="p 1"/>
          <p:cNvSpPr txBox="1"/>
          <p:nvPr/>
        </p:nvSpPr>
        <p:spPr>
          <a:xfrm>
            <a:off x="548640" y="1216152"/>
            <a:ext cx="32918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he-IL" altLang="en-US" sz="1250" b="1" dirty="0">
                <a:solidFill>
                  <a:schemeClr val="tx1"/>
                </a:solidFill>
              </a:rPr>
              <a:t>למדוד קודם</a:t>
            </a:r>
            <a:endParaRPr lang="he-IL" sz="1250" dirty="0"/>
          </a:p>
          <a:p>
            <a:pPr rtl="1" algn="r" indent="0" marL="0">
              <a:buNone/>
            </a:pPr>
            <a:r>
              <a:rPr lang="he-IL" altLang="en-US" sz="1050" dirty="0">
                <a:solidFill>
                  <a:schemeClr val="tx2"/>
                </a:solidFill>
              </a:rPr>
              <a:t>מערכת מדידה על וקטורים שמורים, זהה למעריך של Webiks עד 4 ספרות; 3 שניות לכל וריאנט.</a:t>
            </a:r>
            <a:endParaRPr lang="he-IL" sz="1250" dirty="0"/>
          </a:p>
        </p:txBody>
      </p:sp>
      <p:sp>
        <p:nvSpPr>
          <p:cNvPr id="10" name="p bg 2"/>
          <p:cNvSpPr/>
          <p:nvPr/>
        </p:nvSpPr>
        <p:spPr>
          <a:xfrm>
            <a:off x="3986784" y="1956816"/>
            <a:ext cx="310896" cy="310896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1" name="p num 2"/>
          <p:cNvSpPr txBox="1"/>
          <p:nvPr/>
        </p:nvSpPr>
        <p:spPr>
          <a:xfrm>
            <a:off x="3986784" y="195681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2</a:t>
            </a:r>
            <a:endParaRPr lang="en-US" sz="1100" dirty="0"/>
          </a:p>
        </p:txBody>
      </p:sp>
      <p:sp>
        <p:nvSpPr>
          <p:cNvPr id="12" name="p 2"/>
          <p:cNvSpPr txBox="1"/>
          <p:nvPr/>
        </p:nvSpPr>
        <p:spPr>
          <a:xfrm>
            <a:off x="548640" y="1911096"/>
            <a:ext cx="32918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he-IL" altLang="en-US" sz="1250" b="1" dirty="0">
                <a:solidFill>
                  <a:schemeClr val="tx1"/>
                </a:solidFill>
              </a:rPr>
              <a:t>לקרוא את השגיאות</a:t>
            </a:r>
            <a:endParaRPr lang="he-IL" sz="1250" dirty="0"/>
          </a:p>
          <a:p>
            <a:pPr rtl="1" algn="r" indent="0" marL="0">
              <a:buNone/>
            </a:pPr>
            <a:r>
              <a:rPr lang="he-IL" altLang="en-US" sz="1050" dirty="0">
                <a:solidFill>
                  <a:schemeClr val="tx2"/>
                </a:solidFill>
              </a:rPr>
              <a:t>בלבולים בין עמודים אחים ← הכותרת היא המקום שבו יושב ההבדל.</a:t>
            </a:r>
            <a:endParaRPr lang="he-IL" sz="1250" dirty="0"/>
          </a:p>
        </p:txBody>
      </p:sp>
      <p:sp>
        <p:nvSpPr>
          <p:cNvPr id="13" name="p bg 3"/>
          <p:cNvSpPr/>
          <p:nvPr/>
        </p:nvSpPr>
        <p:spPr>
          <a:xfrm>
            <a:off x="3986784" y="2651760"/>
            <a:ext cx="310896" cy="310896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4" name="p num 3"/>
          <p:cNvSpPr txBox="1"/>
          <p:nvPr/>
        </p:nvSpPr>
        <p:spPr>
          <a:xfrm>
            <a:off x="3986784" y="265176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3</a:t>
            </a:r>
            <a:endParaRPr lang="en-US" sz="1100" dirty="0"/>
          </a:p>
        </p:txBody>
      </p:sp>
      <p:sp>
        <p:nvSpPr>
          <p:cNvPr id="15" name="p 3"/>
          <p:cNvSpPr txBox="1"/>
          <p:nvPr/>
        </p:nvSpPr>
        <p:spPr>
          <a:xfrm>
            <a:off x="548640" y="2606040"/>
            <a:ext cx="32918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he-IL" altLang="en-US" sz="1250" b="1" dirty="0">
                <a:solidFill>
                  <a:schemeClr val="tx1"/>
                </a:solidFill>
              </a:rPr>
              <a:t>לנבא, ואז לבדוק</a:t>
            </a:r>
            <a:endParaRPr lang="he-IL" sz="1250" dirty="0"/>
          </a:p>
          <a:p>
            <a:pPr rtl="1" algn="r" indent="0" marL="0">
              <a:buNone/>
            </a:pPr>
            <a:r>
              <a:rPr lang="he-IL" altLang="en-US" sz="1050" dirty="0">
                <a:solidFill>
                  <a:schemeClr val="tx2"/>
                </a:solidFill>
              </a:rPr>
              <a:t>נכתב לפני ההרצה; צדק בחצי (גם החמצות עמוקות זזו). נשמר כפי שנכתב.</a:t>
            </a:r>
            <a:endParaRPr lang="he-IL" sz="1250" dirty="0"/>
          </a:p>
        </p:txBody>
      </p:sp>
      <p:sp>
        <p:nvSpPr>
          <p:cNvPr id="16" name="p bg 4"/>
          <p:cNvSpPr/>
          <p:nvPr/>
        </p:nvSpPr>
        <p:spPr>
          <a:xfrm>
            <a:off x="3986784" y="3346704"/>
            <a:ext cx="310896" cy="310896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7" name="p num 4"/>
          <p:cNvSpPr txBox="1"/>
          <p:nvPr/>
        </p:nvSpPr>
        <p:spPr>
          <a:xfrm>
            <a:off x="3986784" y="334670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4</a:t>
            </a:r>
            <a:endParaRPr lang="en-US" sz="1100" dirty="0"/>
          </a:p>
        </p:txBody>
      </p:sp>
      <p:sp>
        <p:nvSpPr>
          <p:cNvPr id="18" name="p 4"/>
          <p:cNvSpPr txBox="1"/>
          <p:nvPr/>
        </p:nvSpPr>
        <p:spPr>
          <a:xfrm>
            <a:off x="548640" y="3300984"/>
            <a:ext cx="32918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he-IL" altLang="en-US" sz="1250" b="1" dirty="0">
                <a:solidFill>
                  <a:schemeClr val="tx1"/>
                </a:solidFill>
              </a:rPr>
              <a:t>לבחור משקל ביושר</a:t>
            </a:r>
            <a:endParaRPr lang="he-IL" sz="1250" dirty="0"/>
          </a:p>
          <a:p>
            <a:pPr rtl="1" algn="r" indent="0" marL="0">
              <a:buNone/>
            </a:pPr>
            <a:r>
              <a:rPr lang="he-IL" altLang="en-US" sz="1050" dirty="0">
                <a:solidFill>
                  <a:schemeClr val="tx2"/>
                </a:solidFill>
              </a:rPr>
              <a:t>נסרק על חצי מהשאלות ודווח על החצי השני, בשני הכיוונים; רמה יציבה ב-0.2–0.4.</a:t>
            </a:r>
            <a:endParaRPr lang="he-IL" sz="1250" dirty="0"/>
          </a:p>
        </p:txBody>
      </p:sp>
      <p:sp>
        <p:nvSpPr>
          <p:cNvPr id="19" name="p bg 5"/>
          <p:cNvSpPr/>
          <p:nvPr/>
        </p:nvSpPr>
        <p:spPr>
          <a:xfrm>
            <a:off x="3986784" y="4041648"/>
            <a:ext cx="310896" cy="310896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20" name="p num 5"/>
          <p:cNvSpPr txBox="1"/>
          <p:nvPr/>
        </p:nvSpPr>
        <p:spPr>
          <a:xfrm>
            <a:off x="3986784" y="404164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5</a:t>
            </a:r>
            <a:endParaRPr lang="en-US" sz="1100" dirty="0"/>
          </a:p>
        </p:txBody>
      </p:sp>
      <p:sp>
        <p:nvSpPr>
          <p:cNvPr id="21" name="p 5"/>
          <p:cNvSpPr txBox="1"/>
          <p:nvPr/>
        </p:nvSpPr>
        <p:spPr>
          <a:xfrm>
            <a:off x="548640" y="3995928"/>
            <a:ext cx="32918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he-IL" altLang="en-US" sz="1250" b="1" dirty="0">
                <a:solidFill>
                  <a:schemeClr val="tx1"/>
                </a:solidFill>
              </a:rPr>
              <a:t>לדחות על סמך ראיות</a:t>
            </a:r>
            <a:endParaRPr lang="he-IL" sz="1250" dirty="0"/>
          </a:p>
          <a:p>
            <a:pPr rtl="1" algn="r" indent="0" marL="0">
              <a:buNone/>
            </a:pPr>
            <a:r>
              <a:rPr lang="he-IL" altLang="en-US" sz="1050" dirty="0">
                <a:solidFill>
                  <a:schemeClr val="tx2"/>
                </a:solidFill>
              </a:rPr>
              <a:t>חלוקה לקטעים, הקשר שנכתב ב-LLM, סינון טקסט גנרי, מאגר מועמדים רחב יותר: הכול נמדד, דבר לא הוכנס.</a:t>
            </a:r>
            <a:endParaRPr lang="he-IL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828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4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he-IL" altLang="en-US" sz="2200" b="1" dirty="0">
                <a:solidFill>
                  <a:schemeClr val="tx1"/>
                </a:solidFill>
              </a:rPr>
              <a:t>מקום 1: מ-37% ל-53%  ·  שלושת הראשונים ל-LLM: מ-58% ל-71%</a:t>
            </a:r>
            <a:endParaRPr lang="he-IL" sz="22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3840480" y="1188720"/>
          <a:ext cx="4846320" cy="34747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perq"/>
          <p:cNvSpPr txBox="1"/>
          <p:nvPr/>
        </p:nvSpPr>
        <p:spPr>
          <a:xfrm>
            <a:off x="548640" y="1188720"/>
            <a:ext cx="3017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he-IL" altLang="en-US" sz="1300" b="1" dirty="0">
                <a:solidFill>
                  <a:schemeClr val="tx1"/>
                </a:solidFill>
              </a:rPr>
              <a:t>ברמת השאלה</a:t>
            </a:r>
            <a:endParaRPr lang="he-IL" sz="1300" dirty="0"/>
          </a:p>
          <a:p>
            <a:pPr rtl="1" algn="r" indent="0" marL="0">
              <a:buNone/>
            </a:pPr>
            <a:r>
              <a:rPr lang="he-IL" altLang="en-US" sz="1100" dirty="0">
                <a:solidFill>
                  <a:schemeClr val="tx2"/>
                </a:solidFill>
              </a:rPr>
              <a:t>138 השתפרו · 35 נפגעו · 123 ללא שינוי. רוב הנסיגות הן תזוזה של מקום אחד בין עמודים אחים.</a:t>
            </a:r>
            <a:endParaRPr lang="he-IL" sz="1300" dirty="0"/>
          </a:p>
        </p:txBody>
      </p:sp>
      <p:sp>
        <p:nvSpPr>
          <p:cNvPr id="5" name="rejected"/>
          <p:cNvSpPr txBox="1"/>
          <p:nvPr/>
        </p:nvSpPr>
        <p:spPr>
          <a:xfrm>
            <a:off x="548640" y="2148840"/>
            <a:ext cx="30175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spcAft>
                <a:spcPts val="200"/>
              </a:spcAft>
              <a:buNone/>
            </a:pPr>
            <a:r>
              <a:rPr lang="he-IL" altLang="en-US" sz="1300" b="1" dirty="0">
                <a:solidFill>
                  <a:schemeClr val="tx1"/>
                </a:solidFill>
              </a:rPr>
              <a:t>נבדק, לא הוכנס</a:t>
            </a:r>
            <a:endParaRPr lang="he-IL" sz="1300" dirty="0"/>
          </a:p>
          <a:p>
            <a:pPr rtl="1" algn="r" marL="342900" indent="-342900">
              <a:spcAft>
                <a:spcPts val="200"/>
              </a:spcAft>
              <a:buSzPct val="100000"/>
              <a:buChar char="•"/>
            </a:pPr>
            <a:r>
              <a:rPr lang="he-IL" altLang="en-US" sz="1100" dirty="0">
                <a:solidFill>
                  <a:schemeClr val="tx2"/>
                </a:solidFill>
              </a:rPr>
              <a:t>קטעים של 256 טוקנים: גרוע לבד; עם הכותרת מחליף מקום 1 בשלושת הראשונים</a:t>
            </a:r>
            <a:endParaRPr lang="he-IL" sz="1300" dirty="0"/>
          </a:p>
          <a:p>
            <a:pPr rtl="1" algn="r" marL="342900" indent="-342900">
              <a:spcAft>
                <a:spcPts val="200"/>
              </a:spcAft>
              <a:buSzPct val="100000"/>
              <a:buChar char="•"/>
            </a:pPr>
            <a:r>
              <a:rPr lang="he-IL" altLang="en-US" sz="1100" dirty="0">
                <a:solidFill>
                  <a:schemeClr val="tx2"/>
                </a:solidFill>
              </a:rPr>
              <a:t>הקשר שנכתב ב-LLM לכל פסקה ($3.34): כל המדדים ירדו</a:t>
            </a:r>
            <a:endParaRPr lang="he-IL" sz="1300" dirty="0"/>
          </a:p>
          <a:p>
            <a:pPr rtl="1" algn="r" marL="342900" indent="-342900">
              <a:spcAft>
                <a:spcPts val="200"/>
              </a:spcAft>
              <a:buSzPct val="100000"/>
              <a:buChar char="•"/>
            </a:pPr>
            <a:r>
              <a:rPr lang="he-IL" altLang="en-US" sz="1100" dirty="0">
                <a:solidFill>
                  <a:schemeClr val="tx2"/>
                </a:solidFill>
              </a:rPr>
              <a:t>סינון טקסט גנרי, מאגר מועמדים רחב יותר: ללא השפעה</a:t>
            </a:r>
            <a:endParaRPr lang="he-IL" sz="1300" dirty="0"/>
          </a:p>
        </p:txBody>
      </p:sp>
      <p:sp>
        <p:nvSpPr>
          <p:cNvPr id="6" name="next"/>
          <p:cNvSpPr txBox="1"/>
          <p:nvPr/>
        </p:nvSpPr>
        <p:spPr>
          <a:xfrm>
            <a:off x="548640" y="3611880"/>
            <a:ext cx="30175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he-IL" altLang="en-US" sz="1300" b="1" dirty="0">
                <a:solidFill>
                  <a:schemeClr val="tx1"/>
                </a:solidFill>
              </a:rPr>
              <a:t>הצעד הבא</a:t>
            </a:r>
            <a:endParaRPr lang="he-IL" sz="1300" dirty="0"/>
          </a:p>
          <a:p>
            <a:pPr rtl="1" algn="r" indent="0" marL="0">
              <a:buNone/>
            </a:pPr>
            <a:r>
              <a:rPr lang="he-IL" altLang="en-US" sz="1100" dirty="0">
                <a:solidFill>
                  <a:schemeClr val="tx2"/>
                </a:solidFill>
              </a:rPr>
              <a:t>אחזור קטן-לגדול (התאמה על קטעים, החזרת הפסקה) · סט בדיקה נקי שנכתב בידי אדם · reranker כשלב שני נמדד</a:t>
            </a:r>
            <a:endParaRPr lang="he-IL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828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4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KolZchutRetrieval">
  <a:themeElements>
    <a:clrScheme name="KolZchutRetrieval">
      <a:dk1>
        <a:srgbClr val="1B2A41"/>
      </a:dk1>
      <a:lt1>
        <a:srgbClr val="FFFFFF"/>
      </a:lt1>
      <a:dk2>
        <a:srgbClr val="3D5A80"/>
      </a:dk2>
      <a:lt2>
        <a:srgbClr val="EEF3F8"/>
      </a:lt2>
      <a:accent1>
        <a:srgbClr val="E07A3F"/>
      </a:accent1>
      <a:accent2>
        <a:srgbClr val="3D5A80"/>
      </a:accent2>
      <a:accent3>
        <a:srgbClr val="7FA8C9"/>
      </a:accent3>
      <a:accent4>
        <a:srgbClr val="A9B4C2"/>
      </a:accent4>
      <a:accent5>
        <a:srgbClr val="C8553D"/>
      </a:accent5>
      <a:accent6>
        <a:srgbClr val="98C1D9"/>
      </a:accent6>
      <a:hlink>
        <a:srgbClr val="3D5A80"/>
      </a:hlink>
      <a:folHlink>
        <a:srgbClr val="7FA8C9"/>
      </a:folHlink>
    </a:clrScheme>
    <a:fontScheme name="KolZchutRetrieval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אחזור ב-RAG עברי: וקטורי פסקה מודעי-כותרת</dc:title>
  <dc:subject>PptxGenJS Presentation</dc:subject>
  <dc:creator>Ariel Halevy</dc:creator>
  <cp:lastModifiedBy>Ariel Halevy</cp:lastModifiedBy>
  <cp:revision>1</cp:revision>
  <dcterms:created xsi:type="dcterms:W3CDTF">2026-10-03T19:49:12Z</dcterms:created>
  <dcterms:modified xsi:type="dcterms:W3CDTF">2026-10-03T19:49:12Z</dcterms:modified>
</cp:coreProperties>
</file>