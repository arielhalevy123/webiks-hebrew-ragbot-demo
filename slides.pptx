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Retrieval improvement" id="{2baa128e-e0fc-b853-177f-a19a844fe2dc}">
          <p14:sldIdLst>
            <p14:sldId id="256"/>
            <p14:sldId id="257"/>
            <p14:sldId id="25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3D5A80"/>
                </a:solidFill>
                <a:latin typeface="+mn-lt"/>
              </a:defRPr>
            </a:pPr>
            <a:r>
              <a:rPr sz="1100" b="0" i="0" u="none" strike="noStrike">
                <a:solidFill>
                  <a:srgbClr val="3D5A80"/>
                </a:solidFill>
                <a:latin typeface="+mn-lt"/>
              </a:rPr>
              <a:t>296 held-out questions, full corpus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Shipped system</c:v>
                </c:pt>
              </c:strCache>
            </c:strRef>
          </c:tx>
          <c:spPr>
            <a:solidFill>
              <a:srgbClr val="A9B4C2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2A41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hit@1</c:v>
                  </c:pt>
                  <c:pt idx="1">
                    <c:v>hit@3</c:v>
                  </c:pt>
                  <c:pt idx="2">
                    <c:v>hit@10</c:v>
                  </c:pt>
                  <c:pt idx="3">
                    <c:v>MRR@10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36.8</c:v>
                </c:pt>
                <c:pt idx="1">
                  <c:v>58.1</c:v>
                </c:pt>
                <c:pt idx="2">
                  <c:v>76</c:v>
                </c:pt>
                <c:pt idx="3">
                  <c:v>49.6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Title-aware vectors</c:v>
                </c:pt>
              </c:strCache>
            </c:strRef>
          </c:tx>
          <c:spPr>
            <a:solidFill>
              <a:srgbClr val="E07A3F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2A41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hit@1</c:v>
                  </c:pt>
                  <c:pt idx="1">
                    <c:v>hit@3</c:v>
                  </c:pt>
                  <c:pt idx="2">
                    <c:v>hit@10</c:v>
                  </c:pt>
                  <c:pt idx="3">
                    <c:v>MRR@10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52.7</c:v>
                </c:pt>
                <c:pt idx="1">
                  <c:v>70.9</c:v>
                </c:pt>
                <c:pt idx="2">
                  <c:v>84.8</c:v>
                </c:pt>
                <c:pt idx="3">
                  <c:v>63.6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000" u="none">
                  <a:solidFill>
                    <a:srgbClr val="1B2A41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B2A4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1"/>
        <c:axPos val="l"/>
        <c:majorGridlines>
          <c:spPr>
            <a:ln w="6350" cap="flat">
              <a:solidFill>
                <a:srgbClr val="EEF3F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3D5A80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Baseline measured on the full corpus, 296 held-out questions (the training code's own seed-42 split). The failure reading came before any direction was chosen.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Integration: document.py reads the two keys (defaults keep the original behaviour), engine.py builds the stored vector at ingest. 8 tests. Library path verified vector-identical to the cached vectors the numbers come from.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Caveat stated in the write-up: the held-out split is comparable to the vendor's but still optimistic (questions appear in the training CSV). The claim is the baseline-vs-change difference on identical inputs.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80467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6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The page title the retriever never saw</a:t>
            </a:r>
            <a:endParaRPr lang="en-US" sz="3000" dirty="0"/>
          </a:p>
        </p:txBody>
      </p:sp>
      <p:sp>
        <p:nvSpPr>
          <p:cNvPr id="3" name="subtitle"/>
          <p:cNvSpPr txBox="1"/>
          <p:nvPr/>
        </p:nvSpPr>
        <p:spPr>
          <a:xfrm>
            <a:off x="548640" y="12344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Hebrew RAG over Kol-Zchut · retrieval stage only · 24,487 paragraphs, 7,007 pages</a:t>
            </a:r>
            <a:endParaRPr lang="en-US" sz="1300" dirty="0"/>
          </a:p>
        </p:txBody>
      </p:sp>
      <p:sp>
        <p:nvSpPr>
          <p:cNvPr id="4" name="stat card"/>
          <p:cNvSpPr/>
          <p:nvPr/>
        </p:nvSpPr>
        <p:spPr>
          <a:xfrm>
            <a:off x="548640" y="1783080"/>
            <a:ext cx="3108960" cy="2834640"/>
          </a:xfrm>
          <a:prstGeom prst="roundRect">
            <a:avLst>
              <a:gd name="adj" fmla="val 387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stat"/>
          <p:cNvSpPr txBox="1"/>
          <p:nvPr/>
        </p:nvSpPr>
        <p:spPr>
          <a:xfrm>
            <a:off x="685800" y="187452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chemeClr val="accent1"/>
                </a:solidFill>
              </a:rPr>
              <a:t>42%</a:t>
            </a:r>
            <a:endParaRPr lang="en-US" sz="6400" dirty="0"/>
          </a:p>
        </p:txBody>
      </p:sp>
      <p:sp>
        <p:nvSpPr>
          <p:cNvPr id="6" name="stat label"/>
          <p:cNvSpPr txBox="1"/>
          <p:nvPr/>
        </p:nvSpPr>
        <p:spPr>
          <a:xfrm>
            <a:off x="685800" y="2971800"/>
            <a:ext cx="2834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of questions send the LLM three pages that do not contain the right one (baseline hit@3 = 0.58; hit@1 = 0.37)</a:t>
            </a:r>
            <a:endParaRPr lang="en-US" sz="1300" dirty="0"/>
          </a:p>
        </p:txBody>
      </p:sp>
      <p:sp>
        <p:nvSpPr>
          <p:cNvPr id="7" name="num bg 1"/>
          <p:cNvSpPr/>
          <p:nvPr/>
        </p:nvSpPr>
        <p:spPr>
          <a:xfrm>
            <a:off x="3977640" y="182880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num 1"/>
          <p:cNvSpPr txBox="1"/>
          <p:nvPr/>
        </p:nvSpPr>
        <p:spPr>
          <a:xfrm>
            <a:off x="3977640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9" name="finding 1"/>
          <p:cNvSpPr txBox="1"/>
          <p:nvPr/>
        </p:nvSpPr>
        <p:spPr>
          <a:xfrm>
            <a:off x="4526280" y="1783080"/>
            <a:ext cx="4069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The retriever embeds the paragraph body only.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chemeClr val="accent3"/>
                </a:solidFill>
              </a:rPr>
              <a:t>The page title is stored next to it but never reaches the model.</a:t>
            </a:r>
            <a:endParaRPr lang="en-US" sz="1400" dirty="0"/>
          </a:p>
        </p:txBody>
      </p:sp>
      <p:sp>
        <p:nvSpPr>
          <p:cNvPr id="10" name="num bg 2"/>
          <p:cNvSpPr/>
          <p:nvPr/>
        </p:nvSpPr>
        <p:spPr>
          <a:xfrm>
            <a:off x="3977640" y="278892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num 2"/>
          <p:cNvSpPr txBox="1"/>
          <p:nvPr/>
        </p:nvSpPr>
        <p:spPr>
          <a:xfrm>
            <a:off x="3977640" y="2788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finding 2"/>
          <p:cNvSpPr txBox="1"/>
          <p:nvPr/>
        </p:nvSpPr>
        <p:spPr>
          <a:xfrm>
            <a:off x="4526280" y="2743200"/>
            <a:ext cx="4069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63 of 187 misses are rank 2–3, mostly sibling pages.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chemeClr val="accent3"/>
                </a:solidFill>
              </a:rPr>
              <a:t>הנחה בארנונה לנכים vs לנכי עבודה · דרכון זמני vs ביומטרי · a page vs its wartime twin</a:t>
            </a:r>
            <a:endParaRPr lang="en-US" sz="1400" dirty="0"/>
          </a:p>
        </p:txBody>
      </p:sp>
      <p:sp>
        <p:nvSpPr>
          <p:cNvPr id="13" name="num bg 3"/>
          <p:cNvSpPr/>
          <p:nvPr/>
        </p:nvSpPr>
        <p:spPr>
          <a:xfrm>
            <a:off x="3977640" y="37490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num 3"/>
          <p:cNvSpPr txBox="1"/>
          <p:nvPr/>
        </p:nvSpPr>
        <p:spPr>
          <a:xfrm>
            <a:off x="3977640" y="3749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5" name="finding 3"/>
          <p:cNvSpPr txBox="1"/>
          <p:nvPr/>
        </p:nvSpPr>
        <p:spPr>
          <a:xfrm>
            <a:off x="4526280" y="3703320"/>
            <a:ext cx="4069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64% of paragraphs already start with their section heading.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chemeClr val="accent3"/>
                </a:solidFill>
              </a:rPr>
              <a:t>So the section is in the vector; the page is the missing piece.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Two config keys put the page title into the vector</a:t>
            </a:r>
            <a:endParaRPr lang="en-US" sz="2600" dirty="0"/>
          </a:p>
        </p:txBody>
      </p:sp>
      <p:sp>
        <p:nvSpPr>
          <p:cNvPr id="3" name="step1 card"/>
          <p:cNvSpPr/>
          <p:nvPr/>
        </p:nvSpPr>
        <p:spPr>
          <a:xfrm>
            <a:off x="548640" y="1234440"/>
            <a:ext cx="3931920" cy="1508760"/>
          </a:xfrm>
          <a:prstGeom prst="roundRect">
            <a:avLst>
              <a:gd name="adj" fmla="val 60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tep1"/>
          <p:cNvSpPr txBox="1"/>
          <p:nvPr/>
        </p:nvSpPr>
        <p:spPr>
          <a:xfrm>
            <a:off x="731520" y="1325880"/>
            <a:ext cx="36118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1  embed_context_fields: ["title"]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Text embedded at indexing time becomes  "&lt;page title&gt;\n&lt;paragraph&gt;"</a:t>
            </a:r>
            <a:endParaRPr lang="en-US" sz="1400" dirty="0"/>
          </a:p>
        </p:txBody>
      </p:sp>
      <p:sp>
        <p:nvSpPr>
          <p:cNvPr id="5" name="step2 card"/>
          <p:cNvSpPr/>
          <p:nvPr/>
        </p:nvSpPr>
        <p:spPr>
          <a:xfrm>
            <a:off x="548640" y="2880360"/>
            <a:ext cx="3931920" cy="1783080"/>
          </a:xfrm>
          <a:prstGeom prst="roundRect">
            <a:avLst>
              <a:gd name="adj" fmla="val 512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step2"/>
          <p:cNvSpPr txBox="1"/>
          <p:nvPr/>
        </p:nvSpPr>
        <p:spPr>
          <a:xfrm>
            <a:off x="731520" y="2971800"/>
            <a:ext cx="36118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2  embed_title_weight: 0.3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Title embedded on its own and fused into the stored vector:</a:t>
            </a:r>
            <a:endParaRPr lang="en-US" sz="1400" dirty="0"/>
          </a:p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normalise(0.3·unit(title) + 0.7·unit(text))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Cosine is linear in the query, so one stored vector = 0.3·cos(q,title) + 0.7·cos(q,text). Same model, same index layout, same /search.</a:t>
            </a:r>
            <a:endParaRPr lang="en-US" sz="1400" dirty="0"/>
          </a:p>
        </p:txBody>
      </p:sp>
      <p:sp>
        <p:nvSpPr>
          <p:cNvPr id="7" name="p bg 1"/>
          <p:cNvSpPr/>
          <p:nvPr/>
        </p:nvSpPr>
        <p:spPr>
          <a:xfrm>
            <a:off x="4846320" y="1261872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p num 1"/>
          <p:cNvSpPr txBox="1"/>
          <p:nvPr/>
        </p:nvSpPr>
        <p:spPr>
          <a:xfrm>
            <a:off x="4846320" y="12618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9" name="p 1"/>
          <p:cNvSpPr txBox="1"/>
          <p:nvPr/>
        </p:nvSpPr>
        <p:spPr>
          <a:xfrm>
            <a:off x="5303520" y="1216152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Measure first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Harness on cached vectors, identical to Webiks' evaluator to 4 decimals; 3 s per variant.</a:t>
            </a:r>
            <a:endParaRPr lang="en-US" sz="1250" dirty="0"/>
          </a:p>
        </p:txBody>
      </p:sp>
      <p:sp>
        <p:nvSpPr>
          <p:cNvPr id="10" name="p bg 2"/>
          <p:cNvSpPr/>
          <p:nvPr/>
        </p:nvSpPr>
        <p:spPr>
          <a:xfrm>
            <a:off x="4846320" y="1956816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p num 2"/>
          <p:cNvSpPr txBox="1"/>
          <p:nvPr/>
        </p:nvSpPr>
        <p:spPr>
          <a:xfrm>
            <a:off x="4846320" y="19568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2" name="p 2"/>
          <p:cNvSpPr txBox="1"/>
          <p:nvPr/>
        </p:nvSpPr>
        <p:spPr>
          <a:xfrm>
            <a:off x="5303520" y="1911096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Read the errors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Sibling confusions → the title is where the qualifier lives.</a:t>
            </a:r>
            <a:endParaRPr lang="en-US" sz="1250" dirty="0"/>
          </a:p>
        </p:txBody>
      </p:sp>
      <p:sp>
        <p:nvSpPr>
          <p:cNvPr id="13" name="p bg 3"/>
          <p:cNvSpPr/>
          <p:nvPr/>
        </p:nvSpPr>
        <p:spPr>
          <a:xfrm>
            <a:off x="4846320" y="2651760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p num 3"/>
          <p:cNvSpPr txBox="1"/>
          <p:nvPr/>
        </p:nvSpPr>
        <p:spPr>
          <a:xfrm>
            <a:off x="4846320" y="2651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5" name="p 3"/>
          <p:cNvSpPr txBox="1"/>
          <p:nvPr/>
        </p:nvSpPr>
        <p:spPr>
          <a:xfrm>
            <a:off x="5303520" y="2606040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Predict, then test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Written before the run; half right (deep misses moved too). Kept as written.</a:t>
            </a:r>
            <a:endParaRPr lang="en-US" sz="1250" dirty="0"/>
          </a:p>
        </p:txBody>
      </p:sp>
      <p:sp>
        <p:nvSpPr>
          <p:cNvPr id="16" name="p bg 4"/>
          <p:cNvSpPr/>
          <p:nvPr/>
        </p:nvSpPr>
        <p:spPr>
          <a:xfrm>
            <a:off x="4846320" y="3346704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p num 4"/>
          <p:cNvSpPr txBox="1"/>
          <p:nvPr/>
        </p:nvSpPr>
        <p:spPr>
          <a:xfrm>
            <a:off x="4846320" y="33467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4</a:t>
            </a:r>
            <a:endParaRPr lang="en-US" sz="1100" dirty="0"/>
          </a:p>
        </p:txBody>
      </p:sp>
      <p:sp>
        <p:nvSpPr>
          <p:cNvPr id="18" name="p 4"/>
          <p:cNvSpPr txBox="1"/>
          <p:nvPr/>
        </p:nvSpPr>
        <p:spPr>
          <a:xfrm>
            <a:off x="5303520" y="3300984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Choose weight honestly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Swept on half the questions, reported on the other half, both ways; plateau 0.2–0.4.</a:t>
            </a:r>
            <a:endParaRPr lang="en-US" sz="1250" dirty="0"/>
          </a:p>
        </p:txBody>
      </p:sp>
      <p:sp>
        <p:nvSpPr>
          <p:cNvPr id="19" name="p bg 5"/>
          <p:cNvSpPr/>
          <p:nvPr/>
        </p:nvSpPr>
        <p:spPr>
          <a:xfrm>
            <a:off x="4846320" y="4041648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0" name="p num 5"/>
          <p:cNvSpPr txBox="1"/>
          <p:nvPr/>
        </p:nvSpPr>
        <p:spPr>
          <a:xfrm>
            <a:off x="4846320" y="40416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5</a:t>
            </a:r>
            <a:endParaRPr lang="en-US" sz="1100" dirty="0"/>
          </a:p>
        </p:txBody>
      </p:sp>
      <p:sp>
        <p:nvSpPr>
          <p:cNvPr id="21" name="p 5"/>
          <p:cNvSpPr txBox="1"/>
          <p:nvPr/>
        </p:nvSpPr>
        <p:spPr>
          <a:xfrm>
            <a:off x="5303520" y="3995928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Reject on evidence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Chunking, LLM-written context, boilerplate filter, wider pool: all measured, none shipped.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Rank 1: 37% → 53%  ·  LLM's top 3: 58% → 71%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188720"/>
          <a:ext cx="48463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perq"/>
          <p:cNvSpPr txBox="1"/>
          <p:nvPr/>
        </p:nvSpPr>
        <p:spPr>
          <a:xfrm>
            <a:off x="5577840" y="118872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Per question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138 improved · 35 worse · 123 unchanged. Most regressions move one place between sibling pages.</a:t>
            </a:r>
            <a:endParaRPr lang="en-US" sz="1300" dirty="0"/>
          </a:p>
        </p:txBody>
      </p:sp>
      <p:sp>
        <p:nvSpPr>
          <p:cNvPr id="5" name="rejected"/>
          <p:cNvSpPr txBox="1"/>
          <p:nvPr/>
        </p:nvSpPr>
        <p:spPr>
          <a:xfrm>
            <a:off x="5577840" y="214884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Tested, not shipped</a:t>
            </a:r>
            <a:endParaRPr lang="en-US" sz="13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2"/>
                </a:solidFill>
              </a:rPr>
              <a:t>256-token chunks: worse alone, trades rank-1 for top-3 with the title</a:t>
            </a:r>
            <a:endParaRPr lang="en-US" sz="13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2"/>
                </a:solidFill>
              </a:rPr>
              <a:t>LLM-written context per paragraph ($3.34): every metric down</a:t>
            </a:r>
            <a:endParaRPr lang="en-US" sz="13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2"/>
                </a:solidFill>
              </a:rPr>
              <a:t>Boilerplate filter, wider candidate pool: no effect</a:t>
            </a:r>
            <a:endParaRPr lang="en-US" sz="1300" dirty="0"/>
          </a:p>
        </p:txBody>
      </p:sp>
      <p:sp>
        <p:nvSpPr>
          <p:cNvPr id="6" name="next"/>
          <p:cNvSpPr txBox="1"/>
          <p:nvPr/>
        </p:nvSpPr>
        <p:spPr>
          <a:xfrm>
            <a:off x="5577840" y="3611880"/>
            <a:ext cx="3017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Next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Small-to-big retrieval (match chunks, return the paragraph) · a human-written clean eval set · a reranker as a measured second stage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olZchutRetrieval">
  <a:themeElements>
    <a:clrScheme name="KolZchutRetrieval">
      <a:dk1>
        <a:srgbClr val="1B2A41"/>
      </a:dk1>
      <a:lt1>
        <a:srgbClr val="FFFFFF"/>
      </a:lt1>
      <a:dk2>
        <a:srgbClr val="3D5A80"/>
      </a:dk2>
      <a:lt2>
        <a:srgbClr val="EEF3F8"/>
      </a:lt2>
      <a:accent1>
        <a:srgbClr val="E07A3F"/>
      </a:accent1>
      <a:accent2>
        <a:srgbClr val="3D5A80"/>
      </a:accent2>
      <a:accent3>
        <a:srgbClr val="7FA8C9"/>
      </a:accent3>
      <a:accent4>
        <a:srgbClr val="A9B4C2"/>
      </a:accent4>
      <a:accent5>
        <a:srgbClr val="C8553D"/>
      </a:accent5>
      <a:accent6>
        <a:srgbClr val="98C1D9"/>
      </a:accent6>
      <a:hlink>
        <a:srgbClr val="3D5A80"/>
      </a:hlink>
      <a:folHlink>
        <a:srgbClr val="7FA8C9"/>
      </a:folHlink>
    </a:clrScheme>
    <a:fontScheme name="KolZchutRetrieval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Hebrew RAG retrieval: title-aware paragraph vectors</dc:title>
  <dc:subject>PptxGenJS Presentation</dc:subject>
  <dc:creator>Ariel Halevy</dc:creator>
  <cp:lastModifiedBy>Ariel Halevy</cp:lastModifiedBy>
  <cp:revision>1</cp:revision>
  <dcterms:created xsi:type="dcterms:W3CDTF">2026-10-02T20:52:55Z</dcterms:created>
  <dcterms:modified xsi:type="dcterms:W3CDTF">2026-10-02T20:52:55Z</dcterms:modified>
</cp:coreProperties>
</file>