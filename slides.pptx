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3D5A80"/>
          </a:solidFill>
          <a:ln/>
        </p:spPr>
      </p:sp>
      <p:sp>
        <p:nvSpPr>
          <p:cNvPr id="3" name="Text 1"/>
          <p:cNvSpPr/>
          <p:nvPr>
            <p:ph idx="101" type="title" hasCustomPrompt="1"/>
          </p:nvPr>
        </p:nvSpPr>
        <p:spPr>
          <a:xfrm>
            <a:off x="457200" y="256032"/>
            <a:ext cx="8229600" cy="548640"/>
          </a:xfrm>
          <a:prstGeom prst="rect">
            <a:avLst/>
          </a:prstGeom>
          <a:noFill/>
          <a:ln/>
        </p:spPr>
        <p:txBody>
          <a:bodyPr wrap="square" rtlCol="0"/>
          <a:lstStyle>
            <a:lvl1pPr algn="l" indent="0" marL="0">
              <a:buNone/>
              <a:defRPr lang="en-US" altLang="en-US" sz="2000" b="1" dirty="0">
                <a:solidFill>
                  <a:srgbClr val="1B2A41"/>
                </a:solidFill>
                <a:latin typeface="Calibri" pitchFamily="34" charset="0"/>
                <a:ea typeface="Calibri" pitchFamily="34" charset="-122"/>
                <a:cs typeface="Calibri" pitchFamily="34" charset="-120"/>
              </a:defRPr>
            </a:lvl1pPr>
          </a:lstStyle>
          <a:p>
            <a:pPr algn="l" indent="0" marL="0">
              <a:buNone/>
            </a:pPr>
            <a:endParaRPr lang="en-US" sz="20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5A70"/>
                </a:solidFil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5A7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548640"/>
          </a:xfrm>
          <a:prstGeom prst="rect">
            <a:avLst/>
          </a:prstGeom>
          <a:noFill/>
          <a:ln/>
        </p:spPr>
        <p:txBody>
          <a:bodyPr wrap="square" lIns="0" tIns="0" rIns="0" bIns="0" rtlCol="0" anchor="t"/>
          <a:lstStyle/>
          <a:p>
            <a:pPr algn="l" indent="0" marL="0">
              <a:buNone/>
            </a:pPr>
            <a:r>
              <a:rPr lang="en-US" altLang="en-US" sz="2000" b="1" dirty="0">
                <a:solidFill>
                  <a:srgbClr val="1B2A41"/>
                </a:solidFill>
                <a:latin typeface="Calibri" pitchFamily="34" charset="0"/>
                <a:ea typeface="Calibri" pitchFamily="34" charset="-122"/>
                <a:cs typeface="Calibri" pitchFamily="34" charset="-120"/>
              </a:rPr>
              <a:t>Finding the problem: observation, hypothesis, code, numbers</a:t>
            </a:r>
            <a:endParaRPr lang="en-US" sz="2000" dirty="0"/>
          </a:p>
        </p:txBody>
      </p:sp>
      <p:sp>
        <p:nvSpPr>
          <p:cNvPr id="3" name="obs-hyp-code"/>
          <p:cNvSpPr txBox="1"/>
          <p:nvPr/>
        </p:nvSpPr>
        <p:spPr>
          <a:xfrm>
            <a:off x="457200" y="914400"/>
            <a:ext cx="3931920" cy="3767328"/>
          </a:xfrm>
          <a:prstGeom prst="rect">
            <a:avLst/>
          </a:prstGeom>
          <a:solidFill>
            <a:srgbClr val="F3F5F8"/>
          </a:solidFill>
          <a:ln w="6350">
            <a:solidFill>
              <a:srgbClr val="C9D2DE"/>
            </a:solidFill>
          </a:ln>
        </p:spPr>
        <p:txBody>
          <a:bodyPr wrap="square" lIns="50800" tIns="101600" rIns="101600" bIns="50800" rtlCol="0" anchor="t"/>
          <a:lstStyle/>
          <a:p>
            <a:pPr algn="l" indent="0" marL="0">
              <a:spcAft>
                <a:spcPts val="200"/>
              </a:spcAft>
              <a:buNone/>
            </a:pPr>
            <a:r>
              <a:rPr lang="en-US" altLang="en-US" sz="1150" b="1" dirty="0">
                <a:solidFill>
                  <a:srgbClr val="3D5A80"/>
                </a:solidFill>
                <a:latin typeface="Calibri" pitchFamily="34" charset="0"/>
                <a:ea typeface="Calibri" pitchFamily="34" charset="-122"/>
                <a:cs typeface="Calibri" pitchFamily="34" charset="-120"/>
              </a:rPr>
              <a:t>1. Observation, from reading the original system's failures</a:t>
            </a:r>
            <a:endParaRPr lang="en-US" sz="1150" dirty="0"/>
          </a:p>
          <a:p>
            <a:pPr algn="l" indent="0" marL="0">
              <a:spcAft>
                <a:spcPts val="200"/>
              </a:spcAft>
              <a:buNone/>
            </a:pPr>
            <a:r>
              <a:rPr lang="en-US" altLang="en-US" sz="1050" dirty="0">
                <a:solidFill>
                  <a:srgbClr val="1B2A41"/>
                </a:solidFill>
                <a:latin typeface="Calibri" pitchFamily="34" charset="0"/>
                <a:ea typeface="Calibri" pitchFamily="34" charset="-122"/>
                <a:cs typeface="Calibri" pitchFamily="34" charset="-120"/>
              </a:rPr>
              <a:t>Held-out question: "דרכון דחוף" (urgent passport). Correct page: הוצאת דרכון זמני (temporary passport).</a:t>
            </a:r>
            <a:endParaRPr lang="en-US" sz="1150" dirty="0"/>
          </a:p>
          <a:p>
            <a:pPr algn="l" indent="0" marL="0">
              <a:spcAft>
                <a:spcPts val="200"/>
              </a:spcAft>
              <a:buNone/>
            </a:pPr>
            <a:r>
              <a:rPr lang="en-US" altLang="en-US" sz="1050" b="1" dirty="0">
                <a:solidFill>
                  <a:srgbClr val="1B2A41"/>
                </a:solidFill>
                <a:latin typeface="Calibri" pitchFamily="34" charset="0"/>
                <a:ea typeface="Calibri" pitchFamily="34" charset="-122"/>
                <a:cs typeface="Calibri" pitchFamily="34" charset="-120"/>
              </a:rPr>
              <a:t>Returned: 1. biometric passport   2. temporary passport</a:t>
            </a:r>
            <a:endParaRPr lang="en-US" sz="1150" dirty="0"/>
          </a:p>
          <a:p>
            <a:pPr algn="l" indent="0" marL="0">
              <a:spcAft>
                <a:spcPts val="200"/>
              </a:spcAft>
              <a:buNone/>
            </a:pPr>
            <a:r>
              <a:rPr lang="en-US" altLang="en-US" sz="1050" dirty="0">
                <a:solidFill>
                  <a:srgbClr val="1B2A41"/>
                </a:solidFill>
                <a:latin typeface="Calibri" pitchFamily="34" charset="0"/>
                <a:ea typeface="Calibri" pitchFamily="34" charset="-122"/>
                <a:cs typeface="Calibri" pitchFamily="34" charset="-120"/>
              </a:rPr>
              <a:t>The pattern repeats: right topic, wrong page, and the wrong page is a sibling of the right one (couple with / without children; income top-up for old-age / survivors' pension).</a:t>
            </a:r>
            <a:endParaRPr lang="en-US" sz="1150" dirty="0"/>
          </a:p>
          <a:p>
            <a:pPr algn="l" indent="0" marL="0">
              <a:spcAft>
                <a:spcPts val="200"/>
              </a:spcAft>
              <a:buNone/>
            </a:pPr>
            <a:r>
              <a:rPr lang="en-US" altLang="en-US" sz="400" dirty="0">
                <a:solidFill>
                  <a:srgbClr val="1B2A41"/>
                </a:solidFill>
                <a:latin typeface="Calibri" pitchFamily="34" charset="0"/>
                <a:ea typeface="Calibri" pitchFamily="34" charset="-122"/>
                <a:cs typeface="Calibri" pitchFamily="34" charset="-120"/>
              </a:rPr>
              <a:t> </a:t>
            </a:r>
            <a:endParaRPr lang="en-US" sz="1150" dirty="0"/>
          </a:p>
          <a:p>
            <a:pPr algn="l" indent="0" marL="0">
              <a:spcAft>
                <a:spcPts val="200"/>
              </a:spcAft>
              <a:buNone/>
            </a:pPr>
            <a:r>
              <a:rPr lang="en-US" altLang="en-US" sz="1150" b="1" dirty="0">
                <a:solidFill>
                  <a:srgbClr val="3D5A80"/>
                </a:solidFill>
                <a:latin typeface="Calibri" pitchFamily="34" charset="0"/>
                <a:ea typeface="Calibri" pitchFamily="34" charset="-122"/>
                <a:cs typeface="Calibri" pitchFamily="34" charset="-120"/>
              </a:rPr>
              <a:t>2. Hypothesis</a:t>
            </a:r>
            <a:endParaRPr lang="en-US" sz="1150" dirty="0"/>
          </a:p>
          <a:p>
            <a:pPr algn="l" indent="0" marL="0">
              <a:spcAft>
                <a:spcPts val="200"/>
              </a:spcAft>
              <a:buNone/>
            </a:pPr>
            <a:r>
              <a:rPr lang="en-US" altLang="en-US" sz="1050" dirty="0">
                <a:solidFill>
                  <a:srgbClr val="1B2A41"/>
                </a:solidFill>
                <a:latin typeface="Calibri" pitchFamily="34" charset="0"/>
                <a:ea typeface="Calibri" pitchFamily="34" charset="-122"/>
                <a:cs typeface="Calibri" pitchFamily="34" charset="-120"/>
              </a:rPr>
              <a:t>Sibling pages have near-identical bodies; what separates them is the page title. If the model never sees the title, it has nothing to tell them apart with.</a:t>
            </a:r>
            <a:endParaRPr lang="en-US" sz="1150" dirty="0"/>
          </a:p>
          <a:p>
            <a:pPr algn="l" indent="0" marL="0">
              <a:spcAft>
                <a:spcPts val="200"/>
              </a:spcAft>
              <a:buNone/>
            </a:pPr>
            <a:r>
              <a:rPr lang="en-US" altLang="en-US" sz="400" dirty="0">
                <a:solidFill>
                  <a:srgbClr val="1B2A41"/>
                </a:solidFill>
                <a:latin typeface="Calibri" pitchFamily="34" charset="0"/>
                <a:ea typeface="Calibri" pitchFamily="34" charset="-122"/>
                <a:cs typeface="Calibri" pitchFamily="34" charset="-120"/>
              </a:rPr>
              <a:t> </a:t>
            </a:r>
            <a:endParaRPr lang="en-US" sz="1150" dirty="0"/>
          </a:p>
          <a:p>
            <a:pPr algn="l" indent="0" marL="0">
              <a:spcAft>
                <a:spcPts val="200"/>
              </a:spcAft>
              <a:buNone/>
            </a:pPr>
            <a:r>
              <a:rPr lang="en-US" altLang="en-US" sz="1150" b="1" dirty="0">
                <a:solidFill>
                  <a:srgbClr val="3D5A80"/>
                </a:solidFill>
                <a:latin typeface="Calibri" pitchFamily="34" charset="0"/>
                <a:ea typeface="Calibri" pitchFamily="34" charset="-122"/>
                <a:cs typeface="Calibri" pitchFamily="34" charset="-120"/>
              </a:rPr>
              <a:t>3. Check in the code</a:t>
            </a:r>
            <a:endParaRPr lang="en-US" sz="1150" dirty="0"/>
          </a:p>
          <a:p>
            <a:pPr algn="l" indent="0" marL="0">
              <a:spcAft>
                <a:spcPts val="200"/>
              </a:spcAft>
              <a:buNone/>
            </a:pPr>
            <a:r>
              <a:rPr lang="en-US" altLang="en-US" sz="1050" dirty="0">
                <a:solidFill>
                  <a:srgbClr val="1B2A41"/>
                </a:solidFill>
                <a:latin typeface="Calibri" pitchFamily="34" charset="0"/>
                <a:ea typeface="Calibri" pitchFamily="34" charset="-122"/>
                <a:cs typeface="Calibri" pitchFamily="34" charset="-120"/>
              </a:rPr>
              <a:t>doc-config.json: field_to_embed = "content". The model receives that field only; the title is stored next to the paragraph but never embedded.</a:t>
            </a:r>
            <a:endParaRPr lang="en-US" sz="1150" dirty="0"/>
          </a:p>
        </p:txBody>
      </p:sp>
      <p:sp>
        <p:nvSpPr>
          <p:cNvPr id="4" name="numbers"/>
          <p:cNvSpPr txBox="1"/>
          <p:nvPr/>
        </p:nvSpPr>
        <p:spPr>
          <a:xfrm>
            <a:off x="4572000" y="914400"/>
            <a:ext cx="4114800" cy="3767328"/>
          </a:xfrm>
          <a:prstGeom prst="rect">
            <a:avLst/>
          </a:prstGeom>
          <a:solidFill>
            <a:srgbClr val="F3F5F8"/>
          </a:solidFill>
          <a:ln w="6350">
            <a:solidFill>
              <a:srgbClr val="C9D2DE"/>
            </a:solidFill>
          </a:ln>
        </p:spPr>
        <p:txBody>
          <a:bodyPr wrap="square" lIns="50800" tIns="101600" rIns="101600" bIns="50800" rtlCol="0" anchor="t"/>
          <a:lstStyle/>
          <a:p>
            <a:pPr algn="l" indent="0" marL="0">
              <a:spcAft>
                <a:spcPts val="200"/>
              </a:spcAft>
              <a:buNone/>
            </a:pPr>
            <a:r>
              <a:rPr lang="en-US" altLang="en-US" sz="1150" b="1" dirty="0">
                <a:solidFill>
                  <a:srgbClr val="3D5A80"/>
                </a:solidFill>
                <a:latin typeface="Calibri" pitchFamily="34" charset="0"/>
                <a:ea typeface="Calibri" pitchFamily="34" charset="-122"/>
                <a:cs typeface="Calibri" pitchFamily="34" charset="-120"/>
              </a:rPr>
              <a:t>4. Confirm with numbers (296 questions of the training code's validation split, 24,487 paragraphs)</a:t>
            </a:r>
            <a:endParaRPr lang="en-US" sz="1150" dirty="0"/>
          </a:p>
          <a:p>
            <a:pPr algn="l" indent="0" marL="0">
              <a:spcAft>
                <a:spcPts val="200"/>
              </a:spcAft>
              <a:buNone/>
            </a:pPr>
            <a:r>
              <a:rPr lang="en-US" altLang="en-US" sz="1050" dirty="0">
                <a:solidFill>
                  <a:srgbClr val="1B2A41"/>
                </a:solidFill>
                <a:latin typeface="Calibri" pitchFamily="34" charset="0"/>
                <a:ea typeface="Calibri" pitchFamily="34" charset="-122"/>
                <a:cs typeface="Calibri" pitchFamily="34" charset="-120"/>
              </a:rPr>
              <a:t>Original system: rank 1 for 36.8%, top 3 for 58.1%. The Demo sends 3 pages to the LLM, so for 42% of questions the right one is not among them.</a:t>
            </a:r>
            <a:endParaRPr lang="en-US" sz="1150" dirty="0"/>
          </a:p>
          <a:p>
            <a:pPr algn="l" indent="0" marL="0">
              <a:spcAft>
                <a:spcPts val="200"/>
              </a:spcAft>
              <a:buNone/>
            </a:pPr>
            <a:r>
              <a:rPr lang="en-US" altLang="en-US" sz="400" dirty="0">
                <a:solidFill>
                  <a:srgbClr val="1B2A41"/>
                </a:solidFill>
                <a:latin typeface="Calibri" pitchFamily="34" charset="0"/>
                <a:ea typeface="Calibri" pitchFamily="34" charset="-122"/>
                <a:cs typeface="Calibri" pitchFamily="34" charset="-120"/>
              </a:rPr>
              <a:t> </a:t>
            </a:r>
            <a:endParaRPr lang="en-US" sz="1150" dirty="0"/>
          </a:p>
          <a:p>
            <a:pPr algn="l" indent="0" marL="0">
              <a:spcAft>
                <a:spcPts val="200"/>
              </a:spcAft>
              <a:buNone/>
            </a:pPr>
            <a:r>
              <a:rPr lang="en-US" altLang="en-US" sz="1150" b="1" dirty="0">
                <a:solidFill>
                  <a:srgbClr val="3D5A80"/>
                </a:solidFill>
                <a:latin typeface="Calibri" pitchFamily="34" charset="0"/>
                <a:ea typeface="Calibri" pitchFamily="34" charset="-122"/>
                <a:cs typeface="Calibri" pitchFamily="34" charset="-120"/>
              </a:rPr>
              <a:t>187 misses by rank of the right page:</a:t>
            </a:r>
            <a:endParaRPr lang="en-US" sz="1150" dirty="0"/>
          </a:p>
          <a:p>
            <a:pPr algn="l" marL="342900" indent="-342900">
              <a:spcAft>
                <a:spcPts val="200"/>
              </a:spcAft>
              <a:buSzPct val="100000"/>
              <a:buChar char="•"/>
            </a:pPr>
            <a:r>
              <a:rPr lang="en-US" altLang="en-US" sz="1050" dirty="0">
                <a:solidFill>
                  <a:srgbClr val="1B2A41"/>
                </a:solidFill>
                <a:latin typeface="Calibri" pitchFamily="34" charset="0"/>
                <a:ea typeface="Calibri" pitchFamily="34" charset="-122"/>
                <a:cs typeface="Calibri" pitchFamily="34" charset="-120"/>
              </a:rPr>
              <a:t>rank 2–3: 63, mostly a sibling page first. The pattern above.</a:t>
            </a:r>
            <a:endParaRPr lang="en-US" sz="1150" dirty="0"/>
          </a:p>
          <a:p>
            <a:pPr algn="l" marL="342900" indent="-342900">
              <a:spcAft>
                <a:spcPts val="200"/>
              </a:spcAft>
              <a:buSzPct val="100000"/>
              <a:buChar char="•"/>
            </a:pPr>
            <a:r>
              <a:rPr lang="en-US" altLang="en-US" sz="1050" dirty="0">
                <a:solidFill>
                  <a:srgbClr val="1B2A41"/>
                </a:solidFill>
                <a:latin typeface="Calibri" pitchFamily="34" charset="0"/>
                <a:ea typeface="Calibri" pitchFamily="34" charset="-122"/>
                <a:cs typeface="Calibri" pitchFamily="34" charset="-120"/>
              </a:rPr>
              <a:t>rank 4–10: 53, mixed; generic guide pages win.</a:t>
            </a:r>
            <a:endParaRPr lang="en-US" sz="1150" dirty="0"/>
          </a:p>
          <a:p>
            <a:pPr algn="l" marL="342900" indent="-342900">
              <a:spcAft>
                <a:spcPts val="200"/>
              </a:spcAft>
              <a:buSzPct val="100000"/>
              <a:buChar char="•"/>
            </a:pPr>
            <a:r>
              <a:rPr lang="en-US" altLang="en-US" sz="1050" dirty="0">
                <a:solidFill>
                  <a:srgbClr val="1B2A41"/>
                </a:solidFill>
                <a:latin typeface="Calibri" pitchFamily="34" charset="0"/>
                <a:ea typeface="Calibri" pitchFamily="34" charset="-122"/>
                <a:cs typeface="Calibri" pitchFamily="34" charset="-120"/>
              </a:rPr>
              <a:t>beyond 10: 71, questions that do not identify a page on their own. The ceiling.</a:t>
            </a:r>
            <a:endParaRPr lang="en-US" sz="1150" dirty="0"/>
          </a:p>
          <a:p>
            <a:pPr algn="l" indent="0" marL="0">
              <a:spcAft>
                <a:spcPts val="200"/>
              </a:spcAft>
              <a:buNone/>
            </a:pPr>
            <a:r>
              <a:rPr lang="en-US" altLang="en-US" sz="400" dirty="0">
                <a:solidFill>
                  <a:srgbClr val="1B2A41"/>
                </a:solidFill>
                <a:latin typeface="Calibri" pitchFamily="34" charset="0"/>
                <a:ea typeface="Calibri" pitchFamily="34" charset="-122"/>
                <a:cs typeface="Calibri" pitchFamily="34" charset="-120"/>
              </a:rPr>
              <a:t> </a:t>
            </a:r>
            <a:endParaRPr lang="en-US" sz="1150" dirty="0"/>
          </a:p>
          <a:p>
            <a:pPr algn="l" indent="0" marL="0">
              <a:spcAft>
                <a:spcPts val="200"/>
              </a:spcAft>
              <a:buNone/>
            </a:pPr>
            <a:r>
              <a:rPr lang="en-US" altLang="en-US" sz="1050" b="1" dirty="0">
                <a:solidFill>
                  <a:srgbClr val="1B2A41"/>
                </a:solidFill>
                <a:latin typeface="Calibri" pitchFamily="34" charset="0"/>
                <a:ea typeface="Calibri" pitchFamily="34" charset="-122"/>
                <a:cs typeface="Calibri" pitchFamily="34" charset="-120"/>
              </a:rPr>
              <a:t>64% of paragraphs already open with their section heading, so the section is in the vector. The only missing piece is the page title.</a:t>
            </a:r>
            <a:endParaRPr lang="en-US" sz="1150" dirty="0"/>
          </a:p>
        </p:txBody>
      </p:sp>
      <p:sp>
        <p:nvSpPr>
          <p:cNvPr id="5" name="Text 3"/>
          <p:cNvSpPr txBox="1"/>
          <p:nvPr/>
        </p:nvSpPr>
        <p:spPr>
          <a:xfrm>
            <a:off x="457200" y="4773168"/>
            <a:ext cx="7863840" cy="256032"/>
          </a:xfrm>
          <a:prstGeom prst="rect">
            <a:avLst/>
          </a:prstGeom>
          <a:noFill/>
          <a:ln/>
        </p:spPr>
        <p:txBody>
          <a:bodyPr wrap="square" lIns="0" tIns="0" rIns="0" bIns="0" rtlCol="0" anchor="ctr"/>
          <a:lstStyle/>
          <a:p>
            <a:pPr algn="l" indent="0" marL="0">
              <a:buNone/>
            </a:pPr>
            <a:r>
              <a:rPr lang="en-US" altLang="en-US" sz="800" dirty="0">
                <a:solidFill>
                  <a:srgbClr val="4A5A70"/>
                </a:solidFill>
                <a:latin typeface="Calibri" pitchFamily="34" charset="0"/>
                <a:ea typeface="Calibri" pitchFamily="34" charset="-122"/>
                <a:cs typeface="Calibri" pitchFamily="34" charset="-120"/>
              </a:rPr>
              <a:t>Sources: APPENDIX.md; results/content__heldout.csv; results/title_content__heldout.csv; retrieval_eval/error_table.py</a:t>
            </a:r>
            <a:endParaRPr lang="en-US" sz="8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5A70"/>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548640"/>
          </a:xfrm>
          <a:prstGeom prst="rect">
            <a:avLst/>
          </a:prstGeom>
          <a:noFill/>
          <a:ln/>
        </p:spPr>
        <p:txBody>
          <a:bodyPr wrap="square" lIns="0" tIns="0" rIns="0" bIns="0" rtlCol="0" anchor="t"/>
          <a:lstStyle/>
          <a:p>
            <a:pPr algn="l" indent="0" marL="0">
              <a:buNone/>
            </a:pPr>
            <a:r>
              <a:rPr lang="en-US" altLang="en-US" sz="2000" b="1" dirty="0">
                <a:solidFill>
                  <a:srgbClr val="1B2A41"/>
                </a:solidFill>
                <a:latin typeface="Calibri" pitchFamily="34" charset="0"/>
                <a:ea typeface="Calibri" pitchFamily="34" charset="-122"/>
                <a:cs typeface="Calibri" pitchFamily="34" charset="-120"/>
              </a:rPr>
              <a:t>The fix: embed the page title with the paragraph, tested on three sets</a:t>
            </a:r>
            <a:endParaRPr lang="en-US" sz="2000" dirty="0"/>
          </a:p>
        </p:txBody>
      </p:sp>
      <p:sp>
        <p:nvSpPr>
          <p:cNvPr id="3" name="what"/>
          <p:cNvSpPr txBox="1"/>
          <p:nvPr/>
        </p:nvSpPr>
        <p:spPr>
          <a:xfrm>
            <a:off x="457200" y="868680"/>
            <a:ext cx="8229600" cy="868680"/>
          </a:xfrm>
          <a:prstGeom prst="rect">
            <a:avLst/>
          </a:prstGeom>
          <a:solidFill>
            <a:srgbClr val="F3F5F8"/>
          </a:solidFill>
          <a:ln w="6350">
            <a:solidFill>
              <a:srgbClr val="C9D2DE"/>
            </a:solidFill>
          </a:ln>
        </p:spPr>
        <p:txBody>
          <a:bodyPr wrap="square" lIns="50800" tIns="101600" rIns="101600" bIns="50800" rtlCol="0" anchor="t"/>
          <a:lstStyle/>
          <a:p>
            <a:pPr algn="l" indent="0" marL="0">
              <a:spcAft>
                <a:spcPts val="200"/>
              </a:spcAft>
              <a:buNone/>
            </a:pPr>
            <a:r>
              <a:rPr lang="en-US" altLang="en-US" sz="1150" b="1" dirty="0">
                <a:solidFill>
                  <a:srgbClr val="3D5A80"/>
                </a:solidFill>
                <a:latin typeface="Calibri" pitchFamily="34" charset="0"/>
                <a:ea typeface="Calibri" pitchFamily="34" charset="-122"/>
                <a:cs typeface="Calibri" pitchFamily="34" charset="-120"/>
              </a:rPr>
              <a:t>What changed</a:t>
            </a:r>
            <a:endParaRPr lang="en-US" sz="1150" dirty="0"/>
          </a:p>
          <a:p>
            <a:pPr algn="l" indent="0" marL="0">
              <a:spcAft>
                <a:spcPts val="200"/>
              </a:spcAft>
              <a:buNone/>
            </a:pPr>
            <a:r>
              <a:rPr lang="en-US" altLang="en-US" sz="1050" dirty="0">
                <a:solidFill>
                  <a:srgbClr val="1B2A41"/>
                </a:solidFill>
                <a:latin typeface="Calibri" pitchFamily="34" charset="0"/>
                <a:ea typeface="Calibri" pitchFamily="34" charset="-122"/>
                <a:cs typeface="Calibri" pitchFamily="34" charset="-120"/>
              </a:rPr>
              <a:t>One key in doc-config.json: embed_context_fields: ["title"]. The text embedded at indexing time becomes "&lt;page title&gt;\n&lt;paragraph&gt;".</a:t>
            </a:r>
            <a:endParaRPr lang="en-US" sz="1150" dirty="0"/>
          </a:p>
          <a:p>
            <a:pPr algn="l" indent="0" marL="0">
              <a:spcAft>
                <a:spcPts val="200"/>
              </a:spcAft>
              <a:buNone/>
            </a:pPr>
            <a:r>
              <a:rPr lang="en-US" altLang="en-US" sz="1050" dirty="0">
                <a:solidFill>
                  <a:srgbClr val="1B2A41"/>
                </a:solidFill>
                <a:latin typeface="Calibri" pitchFamily="34" charset="0"/>
                <a:ea typeface="Calibri" pitchFamily="34" charset="-122"/>
                <a:cs typeface="Calibri" pitchFamily="34" charset="-120"/>
              </a:rPr>
              <a:t>The model is not retrained. Query, search, index layout, API and frontend are unchanged. Remove the key and re-index for the original.</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8229600" cy="914400"/>
        </p:xfrm>
        <a:graphic>
          <a:graphicData uri="http://schemas.openxmlformats.org/drawingml/2006/table">
            <a:tbl>
              <a:tblPr/>
              <a:tblGrid>
                <a:gridCol w="3291840"/>
                <a:gridCol w="1645920"/>
                <a:gridCol w="1645920"/>
                <a:gridCol w="1645920"/>
              </a:tblGrid>
              <a:tr h="24688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Variant</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Webiks, 296</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Clean, 150</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Public, 300</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r>
              <a:tr h="246888">
                <a:tc>
                  <a:txBody>
                    <a:bodyPr/>
                    <a:lstStyle/>
                    <a:p>
                      <a:pPr algn="l" indent="0" marL="0">
                        <a:buNone/>
                      </a:pPr>
                      <a:r>
                        <a:rPr lang="en-US" sz="1000" dirty="0">
                          <a:solidFill>
                            <a:srgbClr val="1B2A41"/>
                          </a:solidFill>
                          <a:latin typeface="Calibri" pitchFamily="34" charset="0"/>
                          <a:ea typeface="Calibri" pitchFamily="34" charset="-122"/>
                          <a:cs typeface="Calibri" pitchFamily="34" charset="-120"/>
                        </a:rPr>
                        <a:t>Original system</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36.8 / 58.1</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53.3 / 74.7</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55.3 / 74.7</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246888">
                <a:tc>
                  <a:txBody>
                    <a:bodyPr/>
                    <a:lstStyle/>
                    <a:p>
                      <a:pPr algn="l" indent="0" marL="0">
                        <a:buNone/>
                      </a:pPr>
                      <a:r>
                        <a:rPr lang="en-US" sz="1000" b="1" dirty="0">
                          <a:solidFill>
                            <a:srgbClr val="1B2A41"/>
                          </a:solidFill>
                          <a:latin typeface="Calibri" pitchFamily="34" charset="0"/>
                          <a:ea typeface="Calibri" pitchFamily="34" charset="-122"/>
                          <a:cs typeface="Calibri" pitchFamily="34" charset="-120"/>
                        </a:rPr>
                        <a:t>Title in text (shipped)</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b="1" dirty="0">
                          <a:solidFill>
                            <a:srgbClr val="1B2A41"/>
                          </a:solidFill>
                          <a:latin typeface="Calibri" pitchFamily="34" charset="0"/>
                          <a:ea typeface="Calibri" pitchFamily="34" charset="-122"/>
                          <a:cs typeface="Calibri" pitchFamily="34" charset="-120"/>
                        </a:rPr>
                        <a:t>46.3 / 64.5</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E7F2EA"/>
                    </a:solidFill>
                  </a:tcPr>
                </a:tc>
                <a:tc>
                  <a:txBody>
                    <a:bodyPr/>
                    <a:lstStyle/>
                    <a:p>
                      <a:pPr algn="ctr" indent="0" marL="0">
                        <a:buNone/>
                      </a:pPr>
                      <a:r>
                        <a:rPr lang="en-US" sz="1000" b="1" dirty="0">
                          <a:solidFill>
                            <a:srgbClr val="1B2A41"/>
                          </a:solidFill>
                          <a:latin typeface="Calibri" pitchFamily="34" charset="0"/>
                          <a:ea typeface="Calibri" pitchFamily="34" charset="-122"/>
                          <a:cs typeface="Calibri" pitchFamily="34" charset="-120"/>
                        </a:rPr>
                        <a:t>60.0 / 78.7</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E7F2EA"/>
                    </a:solidFill>
                  </a:tcPr>
                </a:tc>
                <a:tc>
                  <a:txBody>
                    <a:bodyPr/>
                    <a:lstStyle/>
                    <a:p>
                      <a:pPr algn="ctr" indent="0" marL="0">
                        <a:buNone/>
                      </a:pPr>
                      <a:r>
                        <a:rPr lang="en-US" sz="1000" b="1" dirty="0">
                          <a:solidFill>
                            <a:srgbClr val="1B2A41"/>
                          </a:solidFill>
                          <a:latin typeface="Calibri" pitchFamily="34" charset="0"/>
                          <a:ea typeface="Calibri" pitchFamily="34" charset="-122"/>
                          <a:cs typeface="Calibri" pitchFamily="34" charset="-120"/>
                        </a:rPr>
                        <a:t>53.7 / 75.7</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E7F2EA"/>
                    </a:solidFill>
                  </a:tcPr>
                </a:tc>
              </a:tr>
              <a:tr h="246888">
                <a:tc>
                  <a:txBody>
                    <a:bodyPr/>
                    <a:lstStyle/>
                    <a:p>
                      <a:pPr algn="l" indent="0" marL="0">
                        <a:buNone/>
                      </a:pPr>
                      <a:r>
                        <a:rPr lang="en-US" sz="1000" dirty="0">
                          <a:solidFill>
                            <a:srgbClr val="1B2A41"/>
                          </a:solidFill>
                          <a:latin typeface="Calibri" pitchFamily="34" charset="0"/>
                          <a:ea typeface="Calibri" pitchFamily="34" charset="-122"/>
                          <a:cs typeface="Calibri" pitchFamily="34" charset="-120"/>
                        </a:rPr>
                        <a:t>+ title vector 0.3 (tested, off)</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52.7 / 70.9</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56.0 / 77.3</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54.3 / 73.0</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246888">
                <a:tc>
                  <a:txBody>
                    <a:bodyPr/>
                    <a:lstStyle/>
                    <a:p>
                      <a:pPr algn="l" indent="0" marL="0">
                        <a:buNone/>
                      </a:pPr>
                      <a:r>
                        <a:rPr lang="en-US" sz="1000" dirty="0">
                          <a:solidFill>
                            <a:srgbClr val="1B2A41"/>
                          </a:solidFill>
                          <a:latin typeface="Calibri" pitchFamily="34" charset="0"/>
                          <a:ea typeface="Calibri" pitchFamily="34" charset="-122"/>
                          <a:cs typeface="Calibri" pitchFamily="34" charset="-120"/>
                        </a:rPr>
                        <a:t>+ LLM title rerank (optional, off)</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60.1 / 75.3</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66.7 / 84.0</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60.7 / 77.3</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bl>
          </a:graphicData>
        </a:graphic>
      </p:graphicFrame>
      <p:sp>
        <p:nvSpPr>
          <p:cNvPr id="5" name="Text 2"/>
          <p:cNvSpPr txBox="1"/>
          <p:nvPr/>
        </p:nvSpPr>
        <p:spPr>
          <a:xfrm>
            <a:off x="457200" y="3090672"/>
            <a:ext cx="8229600" cy="182880"/>
          </a:xfrm>
          <a:prstGeom prst="rect">
            <a:avLst/>
          </a:prstGeom>
          <a:noFill/>
          <a:ln/>
        </p:spPr>
        <p:txBody>
          <a:bodyPr wrap="square" lIns="0" tIns="0" rIns="0" bIns="0" rtlCol="0" anchor="ctr"/>
          <a:lstStyle/>
          <a:p>
            <a:pPr algn="l" indent="0" marL="0">
              <a:buNone/>
            </a:pPr>
            <a:r>
              <a:rPr lang="en-US" altLang="en-US" sz="850" i="1" dirty="0">
                <a:solidFill>
                  <a:srgbClr val="4A5A70"/>
                </a:solidFill>
                <a:latin typeface="Calibri" pitchFamily="34" charset="0"/>
                <a:ea typeface="Calibri" pitchFamily="34" charset="-122"/>
                <a:cs typeface="Calibri" pitchFamily="34" charset="-120"/>
              </a:rPr>
              <a:t>rank 1 / top 3, %. The rerank row comes from title_llm.py, whose own baselines are within 2 questions of these.</a:t>
            </a:r>
            <a:endParaRPr lang="en-US" sz="850" dirty="0"/>
          </a:p>
        </p:txBody>
      </p:sp>
      <p:sp>
        <p:nvSpPr>
          <p:cNvPr id="6" name="sets"/>
          <p:cNvSpPr txBox="1"/>
          <p:nvPr/>
        </p:nvSpPr>
        <p:spPr>
          <a:xfrm>
            <a:off x="457200" y="3310128"/>
            <a:ext cx="4023360" cy="1371600"/>
          </a:xfrm>
          <a:prstGeom prst="rect">
            <a:avLst/>
          </a:prstGeom>
          <a:solidFill>
            <a:srgbClr val="F3F5F8"/>
          </a:solidFill>
          <a:ln w="6350">
            <a:solidFill>
              <a:srgbClr val="C9D2DE"/>
            </a:solidFill>
          </a:ln>
        </p:spPr>
        <p:txBody>
          <a:bodyPr wrap="square" lIns="50800" tIns="101600" rIns="101600" bIns="50800" rtlCol="0" anchor="t"/>
          <a:lstStyle/>
          <a:p>
            <a:pPr algn="l" indent="0" marL="0">
              <a:spcAft>
                <a:spcPts val="200"/>
              </a:spcAft>
              <a:buNone/>
            </a:pPr>
            <a:r>
              <a:rPr lang="en-US" altLang="en-US" sz="1150" b="1" dirty="0">
                <a:solidFill>
                  <a:srgbClr val="3D5A80"/>
                </a:solidFill>
                <a:latin typeface="Calibri" pitchFamily="34" charset="0"/>
                <a:ea typeface="Calibri" pitchFamily="34" charset="-122"/>
                <a:cs typeface="Calibri" pitchFamily="34" charset="-120"/>
              </a:rPr>
              <a:t>Three sets</a:t>
            </a:r>
            <a:endParaRPr lang="en-US" sz="1150" dirty="0"/>
          </a:p>
          <a:p>
            <a:pPr algn="l" marL="342900" indent="-342900">
              <a:spcAft>
                <a:spcPts val="200"/>
              </a:spcAft>
              <a:buSzPct val="100000"/>
              <a:buChar char="•"/>
            </a:pPr>
            <a:r>
              <a:rPr lang="en-US" altLang="en-US" sz="950" dirty="0">
                <a:solidFill>
                  <a:srgbClr val="1B2A41"/>
                </a:solidFill>
                <a:latin typeface="Calibri" pitchFamily="34" charset="0"/>
                <a:ea typeface="Calibri" pitchFamily="34" charset="-122"/>
                <a:cs typeface="Calibri" pitchFamily="34" charset="-120"/>
              </a:rPr>
              <a:t>Webiks: their training code's validation split. The file was training data, so the claim is the difference, not the level.</a:t>
            </a:r>
            <a:endParaRPr lang="en-US" sz="1150" dirty="0"/>
          </a:p>
          <a:p>
            <a:pPr algn="l" marL="342900" indent="-342900">
              <a:spcAft>
                <a:spcPts val="200"/>
              </a:spcAft>
              <a:buSzPct val="100000"/>
              <a:buChar char="•"/>
            </a:pPr>
            <a:r>
              <a:rPr lang="en-US" altLang="en-US" sz="950" dirty="0">
                <a:solidFill>
                  <a:srgbClr val="1B2A41"/>
                </a:solidFill>
                <a:latin typeface="Calibri" pitchFamily="34" charset="0"/>
                <a:ea typeface="Calibri" pitchFamily="34" charset="-122"/>
                <a:cs typeface="Calibri" pitchFamily="34" charset="-120"/>
              </a:rPr>
              <a:t>Clean: 150 pages with no question in that file; one question each, written from the body with the title hidden.</a:t>
            </a:r>
            <a:endParaRPr lang="en-US" sz="1150" dirty="0"/>
          </a:p>
          <a:p>
            <a:pPr algn="l" marL="342900" indent="-342900">
              <a:spcAft>
                <a:spcPts val="200"/>
              </a:spcAft>
              <a:buSzPct val="100000"/>
              <a:buChar char="•"/>
            </a:pPr>
            <a:r>
              <a:rPr lang="en-US" altLang="en-US" sz="950" dirty="0">
                <a:solidFill>
                  <a:srgbClr val="1B2A41"/>
                </a:solidFill>
                <a:latin typeface="Calibri" pitchFamily="34" charset="0"/>
                <a:ea typeface="Calibri" pitchFamily="34" charset="-122"/>
                <a:cs typeface="Calibri" pitchFamily="34" charset="-120"/>
              </a:rPr>
              <a:t>Public: the 300 questions a competitor published in his fork.</a:t>
            </a:r>
            <a:endParaRPr lang="en-US" sz="1150" dirty="0"/>
          </a:p>
        </p:txBody>
      </p:sp>
      <p:sp>
        <p:nvSpPr>
          <p:cNvPr id="7" name="why"/>
          <p:cNvSpPr txBox="1"/>
          <p:nvPr/>
        </p:nvSpPr>
        <p:spPr>
          <a:xfrm>
            <a:off x="4663440" y="3310128"/>
            <a:ext cx="4023360" cy="1371600"/>
          </a:xfrm>
          <a:prstGeom prst="rect">
            <a:avLst/>
          </a:prstGeom>
          <a:solidFill>
            <a:srgbClr val="F3F5F8"/>
          </a:solidFill>
          <a:ln w="6350">
            <a:solidFill>
              <a:srgbClr val="C9D2DE"/>
            </a:solidFill>
          </a:ln>
        </p:spPr>
        <p:txBody>
          <a:bodyPr wrap="square" lIns="50800" tIns="101600" rIns="101600" bIns="50800" rtlCol="0" anchor="t"/>
          <a:lstStyle/>
          <a:p>
            <a:pPr algn="l" indent="0" marL="0">
              <a:spcAft>
                <a:spcPts val="200"/>
              </a:spcAft>
              <a:buNone/>
            </a:pPr>
            <a:r>
              <a:rPr lang="en-US" altLang="en-US" sz="1150" b="1" dirty="0">
                <a:solidFill>
                  <a:srgbClr val="3D5A80"/>
                </a:solidFill>
                <a:latin typeface="Calibri" pitchFamily="34" charset="0"/>
                <a:ea typeface="Calibri" pitchFamily="34" charset="-122"/>
                <a:cs typeface="Calibri" pitchFamily="34" charset="-120"/>
              </a:rPr>
              <a:t>Why the title vector was switched off</a:t>
            </a:r>
            <a:endParaRPr lang="en-US" sz="1150" dirty="0"/>
          </a:p>
          <a:p>
            <a:pPr algn="l" indent="0" marL="0">
              <a:spcAft>
                <a:spcPts val="200"/>
              </a:spcAft>
              <a:buNone/>
            </a:pPr>
            <a:r>
              <a:rPr lang="en-US" altLang="en-US" sz="950" dirty="0">
                <a:solidFill>
                  <a:srgbClr val="1B2A41"/>
                </a:solidFill>
                <a:latin typeface="Calibri" pitchFamily="34" charset="0"/>
                <a:ea typeface="Calibri" pitchFamily="34" charset="-122"/>
                <a:cs typeface="Calibri" pitchFamily="34" charset="-120"/>
              </a:rPr>
              <a:t>Shipped until 04.10. +6.4pp on the Webiks set, but both independent sets gave it back, it got worse with every increase in weight, and it hurt significantly where the title does not describe the body. Its weight was chosen on questions written with the page in view. It stays in the engine, off.</a:t>
            </a:r>
            <a:endParaRPr lang="en-US" sz="115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algn="l" indent="0" marL="0">
              <a:buNone/>
            </a:pPr>
            <a:r>
              <a:rPr lang="en-US" altLang="en-US" sz="800" dirty="0">
                <a:solidFill>
                  <a:srgbClr val="4A5A70"/>
                </a:solidFill>
                <a:latin typeface="Calibri" pitchFamily="34" charset="0"/>
                <a:ea typeface="Calibri" pitchFamily="34" charset="-122"/>
                <a:cs typeface="Calibri" pitchFamily="34" charset="-120"/>
              </a:rPr>
              <a:t>Sources: SUBMISSION.md §3; APPENDIX.md §0; results/; retrieval_eval/eval_sets/agent_clean_150/</a:t>
            </a:r>
            <a:endParaRPr lang="en-US" sz="8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5A7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548640"/>
          </a:xfrm>
          <a:prstGeom prst="rect">
            <a:avLst/>
          </a:prstGeom>
          <a:noFill/>
          <a:ln/>
        </p:spPr>
        <p:txBody>
          <a:bodyPr wrap="square" lIns="0" tIns="0" rIns="0" bIns="0" rtlCol="0" anchor="t"/>
          <a:lstStyle/>
          <a:p>
            <a:pPr algn="l" indent="0" marL="0">
              <a:buNone/>
            </a:pPr>
            <a:r>
              <a:rPr lang="en-US" altLang="en-US" sz="2000" b="1" dirty="0">
                <a:solidFill>
                  <a:srgbClr val="1B2A41"/>
                </a:solidFill>
                <a:latin typeface="Calibri" pitchFamily="34" charset="0"/>
                <a:ea typeface="Calibri" pitchFamily="34" charset="-122"/>
                <a:cs typeface="Calibri" pitchFamily="34" charset="-120"/>
              </a:rPr>
              <a:t>Optional second stage, off by default, and what was tested and rejected</a:t>
            </a:r>
            <a:endParaRPr lang="en-US" sz="2000" dirty="0"/>
          </a:p>
        </p:txBody>
      </p:sp>
      <p:sp>
        <p:nvSpPr>
          <p:cNvPr id="3" name="rerank"/>
          <p:cNvSpPr txBox="1"/>
          <p:nvPr/>
        </p:nvSpPr>
        <p:spPr>
          <a:xfrm>
            <a:off x="457200" y="868680"/>
            <a:ext cx="3840480" cy="2926080"/>
          </a:xfrm>
          <a:prstGeom prst="rect">
            <a:avLst/>
          </a:prstGeom>
          <a:solidFill>
            <a:srgbClr val="E7F2EA"/>
          </a:solidFill>
          <a:ln w="6350">
            <a:solidFill>
              <a:srgbClr val="C9D2DE"/>
            </a:solidFill>
          </a:ln>
        </p:spPr>
        <p:txBody>
          <a:bodyPr wrap="square" lIns="50800" tIns="101600" rIns="101600" bIns="50800" rtlCol="0" anchor="t"/>
          <a:lstStyle/>
          <a:p>
            <a:pPr algn="l" indent="0" marL="0">
              <a:spcAft>
                <a:spcPts val="200"/>
              </a:spcAft>
              <a:buNone/>
            </a:pPr>
            <a:r>
              <a:rPr lang="en-US" altLang="en-US" sz="1150" b="1" dirty="0">
                <a:solidFill>
                  <a:srgbClr val="3D5A80"/>
                </a:solidFill>
                <a:latin typeface="Calibri" pitchFamily="34" charset="0"/>
                <a:ea typeface="Calibri" pitchFamily="34" charset="-122"/>
                <a:cs typeface="Calibri" pitchFamily="34" charset="-120"/>
              </a:rPr>
              <a:t>LLM title rerank</a:t>
            </a:r>
            <a:endParaRPr lang="en-US" sz="1150" dirty="0"/>
          </a:p>
          <a:p>
            <a:pPr algn="l" marL="342900" indent="-342900">
              <a:spcAft>
                <a:spcPts val="200"/>
              </a:spcAft>
              <a:buSzPct val="100000"/>
              <a:buChar char="•"/>
            </a:pPr>
            <a:r>
              <a:rPr lang="en-US" altLang="en-US" sz="1000" dirty="0">
                <a:solidFill>
                  <a:srgbClr val="1B2A41"/>
                </a:solidFill>
                <a:latin typeface="Calibri" pitchFamily="34" charset="0"/>
                <a:ea typeface="Calibri" pitchFamily="34" charset="-122"/>
                <a:cs typeface="Calibri" pitchFamily="34" charset="-120"/>
              </a:rPr>
              <a:t>Search returns 30 candidate pages; a chat model sees the question and the 30 titles and returns the best ones in order.</a:t>
            </a:r>
            <a:endParaRPr lang="en-US" sz="1150" dirty="0"/>
          </a:p>
          <a:p>
            <a:pPr algn="l" marL="342900" indent="-342900">
              <a:spcAft>
                <a:spcPts val="200"/>
              </a:spcAft>
              <a:buSzPct val="100000"/>
              <a:buChar char="•"/>
            </a:pPr>
            <a:r>
              <a:rPr lang="en-US" altLang="en-US" sz="1000" dirty="0">
                <a:solidFill>
                  <a:srgbClr val="1B2A41"/>
                </a:solidFill>
                <a:latin typeface="Calibri" pitchFamily="34" charset="0"/>
                <a:ea typeface="Calibri" pitchFamily="34" charset="-122"/>
                <a:cs typeface="Calibri" pitchFamily="34" charset="-120"/>
              </a:rPr>
              <a:t>LLM factory: OpenAI and any OpenAI-compatible server (Azure, Ollama, vLLM), Anthropic, Gemini, or any model registered in a few lines.</a:t>
            </a:r>
            <a:endParaRPr lang="en-US" sz="1150" dirty="0"/>
          </a:p>
          <a:p>
            <a:pPr algn="l" marL="342900" indent="-342900">
              <a:spcAft>
                <a:spcPts val="200"/>
              </a:spcAft>
              <a:buSzPct val="100000"/>
              <a:buChar char="•"/>
            </a:pPr>
            <a:r>
              <a:rPr lang="en-US" altLang="en-US" sz="1000" dirty="0">
                <a:solidFill>
                  <a:srgbClr val="1B2A41"/>
                </a:solidFill>
                <a:latin typeface="Calibri" pitchFamily="34" charset="0"/>
                <a:ea typeface="Calibri" pitchFamily="34" charset="-122"/>
                <a:cs typeface="Calibri" pitchFamily="34" charset="-120"/>
              </a:rPr>
              <a:t>Turn on: TITLE_RERANK_ENABLED=true in app/.env, provider and model of choice.</a:t>
            </a:r>
            <a:endParaRPr lang="en-US" sz="1150" dirty="0"/>
          </a:p>
          <a:p>
            <a:pPr algn="l" marL="342900" indent="-342900">
              <a:spcAft>
                <a:spcPts val="200"/>
              </a:spcAft>
              <a:buSzPct val="100000"/>
              <a:buChar char="•"/>
            </a:pPr>
            <a:r>
              <a:rPr lang="en-US" altLang="en-US" sz="1000" dirty="0">
                <a:solidFill>
                  <a:srgbClr val="1B2A41"/>
                </a:solidFill>
                <a:latin typeface="Calibri" pitchFamily="34" charset="0"/>
                <a:ea typeface="Calibri" pitchFamily="34" charset="-122"/>
                <a:cs typeface="Calibri" pitchFamily="34" charset="-120"/>
              </a:rPr>
              <a:t>On any failure (key, timeout, bad reply) it falls back to the plain retrieval order.</a:t>
            </a:r>
            <a:endParaRPr lang="en-US" sz="1150" dirty="0"/>
          </a:p>
          <a:p>
            <a:pPr algn="l" indent="0" marL="0">
              <a:spcAft>
                <a:spcPts val="200"/>
              </a:spcAft>
              <a:buNone/>
            </a:pPr>
            <a:r>
              <a:rPr lang="en-US" altLang="en-US" sz="400" dirty="0">
                <a:solidFill>
                  <a:srgbClr val="1B2A41"/>
                </a:solidFill>
                <a:latin typeface="Calibri" pitchFamily="34" charset="0"/>
                <a:ea typeface="Calibri" pitchFamily="34" charset="-122"/>
                <a:cs typeface="Calibri" pitchFamily="34" charset="-120"/>
              </a:rPr>
              <a:t> </a:t>
            </a:r>
            <a:endParaRPr lang="en-US" sz="1150" dirty="0"/>
          </a:p>
          <a:p>
            <a:pPr algn="l" indent="0" marL="0">
              <a:spcAft>
                <a:spcPts val="200"/>
              </a:spcAft>
              <a:buNone/>
            </a:pPr>
            <a:r>
              <a:rPr lang="en-US" altLang="en-US" sz="1000" dirty="0">
                <a:solidFill>
                  <a:srgbClr val="B8541F"/>
                </a:solidFill>
                <a:latin typeface="Calibri" pitchFamily="34" charset="0"/>
                <a:ea typeface="Calibri" pitchFamily="34" charset="-122"/>
                <a:cs typeface="Calibri" pitchFamily="34" charset="-120"/>
              </a:rPr>
              <a:t>Cost: ~0.8 s per query, an LLM key, and no effect in mock mode. Hence off. 19 tests; 60 pass overall.</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480560" y="868680"/>
          <a:ext cx="4206240" cy="914400"/>
        </p:xfrm>
        <a:graphic>
          <a:graphicData uri="http://schemas.openxmlformats.org/drawingml/2006/table">
            <a:tbl>
              <a:tblPr/>
              <a:tblGrid>
                <a:gridCol w="1463040"/>
                <a:gridCol w="1143000"/>
                <a:gridCol w="1600200"/>
              </a:tblGrid>
              <a:tr h="32918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Experiment</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Δ rank 1 / top 3, pp</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Why not</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r>
              <a:tr h="566928">
                <a:tc>
                  <a:txBody>
                    <a:bodyPr/>
                    <a:lstStyle/>
                    <a:p>
                      <a:pPr algn="l" indent="0" marL="0">
                        <a:buNone/>
                      </a:pPr>
                      <a:r>
                        <a:rPr lang="en-US" sz="900" dirty="0">
                          <a:solidFill>
                            <a:srgbClr val="1B2A41"/>
                          </a:solidFill>
                          <a:latin typeface="Calibri" pitchFamily="34" charset="0"/>
                          <a:ea typeface="Calibri" pitchFamily="34" charset="-122"/>
                          <a:cs typeface="Calibri" pitchFamily="34" charset="-120"/>
                        </a:rPr>
                        <a:t>256-token chunks + title</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900" dirty="0">
                          <a:solidFill>
                            <a:srgbClr val="1B2A41"/>
                          </a:solidFill>
                          <a:latin typeface="Calibri" pitchFamily="34" charset="0"/>
                          <a:ea typeface="Calibri" pitchFamily="34" charset="-122"/>
                          <a:cs typeface="Calibri" pitchFamily="34" charset="-120"/>
                        </a:rPr>
                        <a:t>−5.8 / +2.7</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l" indent="0" marL="0">
                        <a:buNone/>
                      </a:pPr>
                      <a:r>
                        <a:rPr lang="en-US" sz="850" dirty="0">
                          <a:solidFill>
                            <a:srgbClr val="4A5A70"/>
                          </a:solidFill>
                          <a:latin typeface="Calibri" pitchFamily="34" charset="0"/>
                          <a:ea typeface="Calibri" pitchFamily="34" charset="-122"/>
                          <a:cs typeface="Calibri" pitchFamily="34" charset="-120"/>
                        </a:rPr>
                        <a:t>vs title in text: trades rank 1 for top 3, doubles the index, LLM gets half-paragraphs</a:t>
                      </a:r>
                      <a:endParaRPr lang="en-US" sz="85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457200">
                <a:tc>
                  <a:txBody>
                    <a:bodyPr/>
                    <a:lstStyle/>
                    <a:p>
                      <a:pPr algn="l" indent="0" marL="0">
                        <a:buNone/>
                      </a:pPr>
                      <a:r>
                        <a:rPr lang="en-US" sz="900" dirty="0">
                          <a:solidFill>
                            <a:srgbClr val="1B2A41"/>
                          </a:solidFill>
                          <a:latin typeface="Calibri" pitchFamily="34" charset="0"/>
                          <a:ea typeface="Calibri" pitchFamily="34" charset="-122"/>
                          <a:cs typeface="Calibri" pitchFamily="34" charset="-120"/>
                        </a:rPr>
                        <a:t>LLM-written context per paragraph</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900" dirty="0">
                          <a:solidFill>
                            <a:srgbClr val="1B2A41"/>
                          </a:solidFill>
                          <a:latin typeface="Calibri" pitchFamily="34" charset="0"/>
                          <a:ea typeface="Calibri" pitchFamily="34" charset="-122"/>
                          <a:cs typeface="Calibri" pitchFamily="34" charset="-120"/>
                        </a:rPr>
                        <a:t>−3.7 / −0.6</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l" indent="0" marL="0">
                        <a:buNone/>
                      </a:pPr>
                      <a:r>
                        <a:rPr lang="en-US" sz="850" dirty="0">
                          <a:solidFill>
                            <a:srgbClr val="4A5A70"/>
                          </a:solidFill>
                          <a:latin typeface="Calibri" pitchFamily="34" charset="0"/>
                          <a:ea typeface="Calibri" pitchFamily="34" charset="-122"/>
                          <a:cs typeface="Calibri" pitchFamily="34" charset="-120"/>
                        </a:rPr>
                        <a:t>vs the same variant without it; cost $3.34</a:t>
                      </a:r>
                      <a:endParaRPr lang="en-US" sz="85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457200">
                <a:tc>
                  <a:txBody>
                    <a:bodyPr/>
                    <a:lstStyle/>
                    <a:p>
                      <a:pPr algn="l" indent="0" marL="0">
                        <a:buNone/>
                      </a:pPr>
                      <a:r>
                        <a:rPr lang="en-US" sz="900" dirty="0">
                          <a:solidFill>
                            <a:srgbClr val="1B2A41"/>
                          </a:solidFill>
                          <a:latin typeface="Calibri" pitchFamily="34" charset="0"/>
                          <a:ea typeface="Calibri" pitchFamily="34" charset="-122"/>
                          <a:cs typeface="Calibri" pitchFamily="34" charset="-120"/>
                        </a:rPr>
                        <a:t>Rewrite / HyDE / 4 paraphrases</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900" dirty="0">
                          <a:solidFill>
                            <a:srgbClr val="1B2A41"/>
                          </a:solidFill>
                          <a:latin typeface="Calibri" pitchFamily="34" charset="0"/>
                          <a:ea typeface="Calibri" pitchFamily="34" charset="-122"/>
                          <a:cs typeface="Calibri" pitchFamily="34" charset="-120"/>
                        </a:rPr>
                        <a:t>up to +2.4 / +3.8</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l" indent="0" marL="0">
                        <a:buNone/>
                      </a:pPr>
                      <a:r>
                        <a:rPr lang="en-US" sz="850" dirty="0">
                          <a:solidFill>
                            <a:srgbClr val="4A5A70"/>
                          </a:solidFill>
                          <a:latin typeface="Calibri" pitchFamily="34" charset="0"/>
                          <a:ea typeface="Calibri" pitchFamily="34" charset="-122"/>
                          <a:cs typeface="Calibri" pitchFamily="34" charset="-120"/>
                        </a:rPr>
                        <a:t>heavy churn both ways; an LLM in the search path</a:t>
                      </a:r>
                      <a:endParaRPr lang="en-US" sz="85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384048">
                <a:tc>
                  <a:txBody>
                    <a:bodyPr/>
                    <a:lstStyle/>
                    <a:p>
                      <a:pPr algn="l" indent="0" marL="0">
                        <a:buNone/>
                      </a:pPr>
                      <a:r>
                        <a:rPr lang="en-US" sz="900" dirty="0">
                          <a:solidFill>
                            <a:srgbClr val="1B2A41"/>
                          </a:solidFill>
                          <a:latin typeface="Calibri" pitchFamily="34" charset="0"/>
                          <a:ea typeface="Calibri" pitchFamily="34" charset="-122"/>
                          <a:cs typeface="Calibri" pitchFamily="34" charset="-120"/>
                        </a:rPr>
                        <a:t>Boilerplate filter / 500 candidates</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900" dirty="0">
                          <a:solidFill>
                            <a:srgbClr val="1B2A41"/>
                          </a:solidFill>
                          <a:latin typeface="Calibri" pitchFamily="34" charset="0"/>
                          <a:ea typeface="Calibri" pitchFamily="34" charset="-122"/>
                          <a:cs typeface="Calibri" pitchFamily="34" charset="-120"/>
                        </a:rPr>
                        <a:t>±1.5 / 0</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l" indent="0" marL="0">
                        <a:buNone/>
                      </a:pPr>
                      <a:r>
                        <a:rPr lang="en-US" sz="850" dirty="0">
                          <a:solidFill>
                            <a:srgbClr val="4A5A70"/>
                          </a:solidFill>
                          <a:latin typeface="Calibri" pitchFamily="34" charset="0"/>
                          <a:ea typeface="Calibri" pitchFamily="34" charset="-122"/>
                          <a:cs typeface="Calibri" pitchFamily="34" charset="-120"/>
                        </a:rPr>
                        <a:t>a page ranks by its best paragraph</a:t>
                      </a:r>
                      <a:endParaRPr lang="en-US" sz="85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bl>
          </a:graphicData>
        </a:graphic>
      </p:graphicFrame>
      <p:sp>
        <p:nvSpPr>
          <p:cNvPr id="5" name="Text 2"/>
          <p:cNvSpPr txBox="1"/>
          <p:nvPr/>
        </p:nvSpPr>
        <p:spPr>
          <a:xfrm>
            <a:off x="4480560" y="3566160"/>
            <a:ext cx="4206240" cy="201168"/>
          </a:xfrm>
          <a:prstGeom prst="rect">
            <a:avLst/>
          </a:prstGeom>
          <a:noFill/>
          <a:ln/>
        </p:spPr>
        <p:txBody>
          <a:bodyPr wrap="square" lIns="0" tIns="0" rIns="0" bIns="0" rtlCol="0" anchor="ctr"/>
          <a:lstStyle/>
          <a:p>
            <a:pPr algn="l" indent="0" marL="0">
              <a:buNone/>
            </a:pPr>
            <a:r>
              <a:rPr lang="en-US" altLang="en-US" sz="850" i="1" dirty="0">
                <a:solidFill>
                  <a:srgbClr val="4A5A70"/>
                </a:solidFill>
                <a:latin typeface="Calibri" pitchFamily="34" charset="0"/>
                <a:ea typeface="Calibri" pitchFamily="34" charset="-122"/>
                <a:cs typeface="Calibri" pitchFamily="34" charset="-120"/>
              </a:rPr>
              <a:t>296 Webiks questions; each against the same setup without it</a:t>
            </a:r>
            <a:endParaRPr lang="en-US" sz="850" dirty="0"/>
          </a:p>
        </p:txBody>
      </p:sp>
      <p:sp>
        <p:nvSpPr>
          <p:cNvPr id="6" name="next"/>
          <p:cNvSpPr txBox="1"/>
          <p:nvPr/>
        </p:nvSpPr>
        <p:spPr>
          <a:xfrm>
            <a:off x="457200" y="3931920"/>
            <a:ext cx="8229600" cy="749808"/>
          </a:xfrm>
          <a:prstGeom prst="rect">
            <a:avLst/>
          </a:prstGeom>
          <a:solidFill>
            <a:srgbClr val="F3F5F8"/>
          </a:solidFill>
          <a:ln w="6350">
            <a:solidFill>
              <a:srgbClr val="C9D2DE"/>
            </a:solidFill>
          </a:ln>
        </p:spPr>
        <p:txBody>
          <a:bodyPr wrap="square" lIns="50800" tIns="101600" rIns="101600" bIns="50800" rtlCol="0" anchor="t"/>
          <a:lstStyle/>
          <a:p>
            <a:pPr algn="l" indent="0" marL="0">
              <a:spcAft>
                <a:spcPts val="200"/>
              </a:spcAft>
              <a:buNone/>
            </a:pPr>
            <a:r>
              <a:rPr lang="en-US" altLang="en-US" sz="1150" b="1" dirty="0">
                <a:solidFill>
                  <a:srgbClr val="3D5A80"/>
                </a:solidFill>
                <a:latin typeface="Calibri" pitchFamily="34" charset="0"/>
                <a:ea typeface="Calibri" pitchFamily="34" charset="-122"/>
                <a:cs typeface="Calibri" pitchFamily="34" charset="-120"/>
              </a:rPr>
              <a:t>Next</a:t>
            </a:r>
            <a:endParaRPr lang="en-US" sz="1150" dirty="0"/>
          </a:p>
          <a:p>
            <a:pPr algn="l" indent="0" marL="0">
              <a:spcAft>
                <a:spcPts val="200"/>
              </a:spcAft>
              <a:buNone/>
            </a:pPr>
            <a:r>
              <a:rPr lang="en-US" altLang="en-US" sz="1000" dirty="0">
                <a:solidFill>
                  <a:srgbClr val="1B2A41"/>
                </a:solidFill>
                <a:latin typeface="Calibri" pitchFamily="34" charset="0"/>
                <a:ea typeface="Calibri" pitchFamily="34" charset="-122"/>
                <a:cs typeface="Calibri" pitchFamily="34" charset="-120"/>
              </a:rPr>
              <a:t>Test the rerank on real traffic and against a paragraph-level cross-encoder · small-to-big retrieval · a human-written question set · fix corpus pages whose text belongs to another page (up to 271 suspects).</a:t>
            </a:r>
            <a:endParaRPr lang="en-US" sz="1150" dirty="0"/>
          </a:p>
        </p:txBody>
      </p:sp>
      <p:sp>
        <p:nvSpPr>
          <p:cNvPr id="7" name="Text 4"/>
          <p:cNvSpPr txBox="1"/>
          <p:nvPr/>
        </p:nvSpPr>
        <p:spPr>
          <a:xfrm>
            <a:off x="457200" y="4773168"/>
            <a:ext cx="7863840" cy="256032"/>
          </a:xfrm>
          <a:prstGeom prst="rect">
            <a:avLst/>
          </a:prstGeom>
          <a:noFill/>
          <a:ln/>
        </p:spPr>
        <p:txBody>
          <a:bodyPr wrap="square" lIns="0" tIns="0" rIns="0" bIns="0" rtlCol="0" anchor="ctr"/>
          <a:lstStyle/>
          <a:p>
            <a:pPr algn="l" indent="0" marL="0">
              <a:buNone/>
            </a:pPr>
            <a:r>
              <a:rPr lang="en-US" altLang="en-US" sz="800" dirty="0">
                <a:solidFill>
                  <a:srgbClr val="4A5A70"/>
                </a:solidFill>
                <a:latin typeface="Calibri" pitchFamily="34" charset="0"/>
                <a:ea typeface="Calibri" pitchFamily="34" charset="-122"/>
                <a:cs typeface="Calibri" pitchFamily="34" charset="-120"/>
              </a:rPr>
              <a:t>Sources: app/src/title_rerank.py; app/src/llm_factory.py; app/.env-example; retrieval_eval/title_llm.py; docs/screenshots/06-08</a:t>
            </a:r>
            <a:endParaRPr lang="en-US" sz="8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5A70"/>
                </a:solidFill>
              </a:defRPr>
            </a:lvl1pPr>
          </a:lstStyle>
          <a:p>
            <a:pPr algn="l"/>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 the page title in the vector</dc:title>
  <dc:subject>PptxGenJS Presentation</dc:subject>
  <dc:creator>Ariel Halevy</dc:creator>
  <cp:lastModifiedBy>Ariel Halevy</cp:lastModifiedBy>
  <cp:revision>1</cp:revision>
  <dcterms:created xsi:type="dcterms:W3CDTF">2026-10-04T23:18:38Z</dcterms:created>
  <dcterms:modified xsi:type="dcterms:W3CDTF">2026-10-04T23:18:38Z</dcterms:modified>
</cp:coreProperties>
</file>